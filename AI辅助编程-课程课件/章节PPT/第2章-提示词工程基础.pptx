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5029200" cy="5029200"/>
          </a:xfrm>
          <a:prstGeom prst="ellipse">
            <a:avLst/>
          </a:prstGeom>
          <a:solidFill>
            <a:srgbClr val="0B8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926080"/>
            <a:ext cx="4114800" cy="41148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CHAPTER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提示词工程基础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Chapter 2 · Fundamentals of Prompt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69080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掌握结构化提示词的设计方法——角色、上下文、任务、格式四要素，理解零样本、少样本与链式推理技术，学会面向代码生成的精准描述与迭代优化策略。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本章导览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本章我们将讨论这些内容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88336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提示词工程的核心原则与价值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66160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结构化设计：角色·上下文·任务·格式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43984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零样本 / 少样本 / 链式推理技术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72583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321808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面向代码生成的精准描述方法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99632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上下文注入与约束条件设定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学习目标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学完本章你应当能够……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91440" cy="43891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1371600" cy="438912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掌握结构化提示词设计方法，针对不同编程任务构建高质量指令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套用四要素框架编写提示词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按任务迭代优化提示直至满意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判断输出质量并定位提示缺陷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91440" cy="4389120"/>
          </a:xfrm>
          <a:prstGeom prst="rect">
            <a:avLst/>
          </a:prstGeom>
          <a:solidFill>
            <a:srgbClr val="096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7298" y="2121408"/>
            <a:ext cx="1371600" cy="438912"/>
          </a:xfrm>
          <a:prstGeom prst="roundRect">
            <a:avLst/>
          </a:prstGeom>
          <a:solidFill>
            <a:srgbClr val="096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零样本、少样本等提示技术的使用场景与适用条件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96B9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区分zero-shot/few-shot/CoT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096B9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为任务选择合适的提示技术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036" y="1828800"/>
            <a:ext cx="91440" cy="4389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7356" y="21214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提示词与模型行为之间的关系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理解上下文长度与Token的影响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认识提示反模式与风险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8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1AA9E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提示词工程核心原则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Core Principles of Prompt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提示词是人与模型沟通的“接口”。同样的模型，提示不同，结果天差地别。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核心概念 ·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什么是提示词工程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提示词工程（Prompt Engineering）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系统化地设计、组织与优化给模型的输入，以稳定获得高质量输出的方法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它为什么重要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模型能力固定时，提示质量决定结果质量（Garbage in, garbage out）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好提示能显著降低返工、幻觉与歧义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它不是“玄学”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有清晰的结构、可复用的模式与可度量的迭代过程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886200" cy="4389120"/>
          </a:xfrm>
          <a:prstGeom prst="round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86200" cy="64008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48840"/>
            <a:ext cx="3886200" cy="320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33756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把“你想要什么”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说得越清楚、越具体、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越有上下文，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AI 的产出就越接近预期。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提示词是可以刻意练习并不断沉淀为个人/团队资产的技能。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为什么重要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提示质量如何放大产出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3515258" cy="914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× 模糊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“写个登录功能”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信息缺失，AI只能猜，返工多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8218" y="2377440"/>
            <a:ext cx="3515258" cy="914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√ 精准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角色+上下文+任务+格式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一次到位率显著提高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3516" y="2377440"/>
            <a:ext cx="3515258" cy="9144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多轮逼近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用反馈把结果推向正确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提示工程的目标不是“一次写完美”，而是“高效迭代到正确”。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核心框架 · R-C-T-F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结构化提示词的四要素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Role 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让模型“扮演”特定专家身份，设定语气与专业视角。例：你是一名资深Python后端工程师。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Context 上下文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提供背景、约束、已有代码、技术栈与目标，缩小回答空间。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Task 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明确要做什么、输入输出、成功标准，动词具体、范围清晰。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Format 格式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规定输出形式：语言、结构、是否含注释/测试/解释。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结构化模板 ·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四要素模板：一条可直接套用的结构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把零散需求按四要素组织，是写好提示词最快的提升。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prompt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角色：你是一名资深的 Python 后端工程师，注重代码可读性与健壮性。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上下文：项目使用 FastAPI + SQLAlchemy，已有 User 模型（id, email, hashed_pw）。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任务：实现用户注册接口 POST /register：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校验邮箱格式与唯一性；密码做哈希存储；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成功返回 201 与用户 id，邮箱重复返回 409。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格式：只输出代码，附关键注释；同时给出 3 个边界测试用例。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角色·上下文·任务·格式四要素齐备，AI 的产出可控性大幅提升。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编写流程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编写一条高质量提示词的步骤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6EC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明确目标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先想清楚“成功长什么样”：输入、输出、约束与验收标准。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补足上下文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给出技术栈、已有代码、命名规范、依赖版本等关键背景。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拆解任务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复杂任务拆成小步，必要时让AI先给方案再写代码。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规定格式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指定语言、结构、是否要注释/测试/解释，减少无关输出。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迭代修正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用具体反馈纠偏：指出问题、给反例、提出更严约束。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效果对比 · VAGUE VS PRECISE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模糊提示 vs 精准提示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模糊提示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“帮我写个排序”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未说语言与数据规模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未说稳定性/复杂度要求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未说输入输出格式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结果常需反复返工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精准提示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“用Python对字典列表按age升序稳定排序”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给出样例输入与期望输出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限定不引入第三方库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要求附时间复杂度说明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一次到位率高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096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提示技术 ·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提示技术（一）：零样本 Zero-shot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不给示例，直接用指令描述任务，依赖模型已有能力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任务常见、表述清晰、对格式要求不高时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如：解释报错、写常见函数、格式转换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优点 / 局限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简单快速；但对复杂/特定风格任务，输出不稳定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零样本是默认起点：先试，不行再加示例或拆步。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提示技术 · FEW-SHOT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提示技术（二）：少样本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在提示中给出几个“输入→输出”示例，让模型模仿模式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有固定风格/格式要求、需统一命名或结构时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如：按团队规范生成代码、统一注释风格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示例要典型、覆盖边界、与目标任务高度相似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FEW-SHOT 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少样本示例：用示例统一输出风格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给2个示范，模型即可“照葫芦画瓢”输出风格一致的结果。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few-shot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任务：把函数名转换为符合规范的中文注释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示例1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输入：def get_user_by_id(uid)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输出：# 根据用户ID获取用户信息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示例2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输入：def calc_total_price(items)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输出：# 计算商品总价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现在请处理：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输入：def send_reset_email(email)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输出：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少样本通过“示范”传达难以言说的隐性规范。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提示技术 · CHAIN-OF-THOUGHT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提示技术（三）：链式推理 CoT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引导模型“分步思考”，先推理再给结论/代码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典型触发语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“请一步步分析”“先列出方案再实现”“先说思路再写代码”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逻辑复杂、需多步推导、易出错的算法或调试任务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减少跳步出错，过程可审查，便于人工介入纠偏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COT 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链式推理示例：先思路，后代码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让AI显式给出推理步骤，既提质量又便于人工检查。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CoT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请解决：判断一个链表是否有环。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要求：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1) 先用自然语言说明你的思路与所选算法及其复杂度；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2) 再给出 Python 实现；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3) 最后说明你如何验证正确性（含边界情况）。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这样可避免AI“跳步”直接给出难以验证的代码。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“先想后写”是CoT的核心，也是人机协作中人能介入的关键点。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技术选型 ·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三种技术怎么选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 Zero-shot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任务常见、表述清晰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对风格无特殊要求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追求速度的探索阶段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失败成本低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Few-shot / CoT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需统一风格/格式 → Few-shot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逻辑复杂易错 → CoT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对正确性要求高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可叠加：Few-shot + CoT 组合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096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572000" cy="4572000"/>
          </a:xfrm>
          <a:prstGeom prst="ellipse">
            <a:avLst/>
          </a:prstGeom>
          <a:solidFill>
            <a:srgbClr val="0B8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不要把AI当成搜索引擎，要把它当成一个聪明但需要你讲清楚需求的实习生。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— 提示工程的核心心法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8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1AA9E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面向代码生成的提示策略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Prompting Strategies for Code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代码任务有其特殊性：强约束、可验证。如何把需求“精准化”，并注入上下文与约束？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精准描述 · PRECISE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需求描述精准化的方法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把“想法”翻译成“规格”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明确输入、输出、数据类型与边界条件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写清成功标准与失败处理（异常、空值、越界）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锁定技术约束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语言/版本、框架、依赖限制、性能与安全要求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消除歧义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用具体示例代替形容词：给样例输入与期望输出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避免一次塞太多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一个提示聚焦一个清晰目标，复杂任务拆解推进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迭代优化 · ITERATE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需求精准化的迭代优化技巧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6EC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先要方案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让AI先给实现思路/接口设计，确认方向再写代码。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小步生成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按函数/模块分步生成，逐步验证，避免大段不可控输出。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精准反馈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不说“不对”，而是指出哪里错、给反例、补约束。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固化约束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把反复强调的规则沉淀进上下文或规则文件，避免重复。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记录日志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记录提示词演化过程，形成可复用的个人提示库。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实验二将要求你建立“个人提示词优化日志”——从今天开始积累。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上下文注入 · CONTEXT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上下文注入的四种方式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贴关键代码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把相关模型/接口/函数贴入提示，让AI在真实上下文中作答。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给项目信息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技术栈、目录结构、命名与编码规范、依赖版本。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示例驱动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用输入输出样例或现有同类代码作为模仿模板。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错误信息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把报错栈、日志、复现步骤一并给出，便于精准定位。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上下文注入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上下文注入示例：在真实上下文中生成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提供已有代码与约定，AI生成的代码才能“接得上”。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context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上下文（已有代码）：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class Order(BaseModel):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id: int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items: list[Item]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status: str  # 'pending'|'paid'|'shipped'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任务：新增方法 total_amount()，返回订单总金额（Item 有 price 与 qty）。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约束：保持 Pydantic 风格；金额用 Decimal；空订单返回 Decimal('0')。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格式：仅输出新增方法代码 + 1 个测试用例。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把“现状”交代清楚，是让AI产出可直接合入代码的前提。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约束设定 ·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约束条件设定实践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语言与风格约束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指定语言版本、命名规范、是否遵循PEP8/团队规范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功能与边界约束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必须处理的异常、输入范围、空值与并发情形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性能与安全约束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时间/空间复杂度上限、避免SQL注入、不硬编码密钥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输出约束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只要代码 / 要注释 / 要测试 / 不要冗长解释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约束设定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约束条件示例：把“红线”写进提示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明确的约束能有效抑制AI的“自由发挥”与潜在风险。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constraints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任务：写一个从数据库按用户名查询用户的函数。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约束（必须遵守）：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使用参数化查询，禁止字符串拼接 SQL（防注入）；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不得在代码中硬编码数据库密码，从环境变量读取；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查询不到返回 None，不抛异常；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- 添加类型注解与 docstring。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格式：仅输出函数代码。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安全与规范类约束，越早写进提示越省心——这也是工程素养。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避坑指南 ·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提示词的常见反模式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一次塞太多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把多个不相关任务堆在一个提示里，导致输出混乱。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形容词式需求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“高效、优雅、健壮”无法量化，应给具体标准。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缺少上下文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不给技术栈与已有代码，AI只能凭空猜测。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盲目接受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不读不测直接用，把幻觉与漏洞带进项目。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迭代日志 · PROMPT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提示词迭代优化日志怎么记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6EC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记录目标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本次想让AI完成什么，验收标准是什么。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保存提示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完整保存每一版提示词与对应输出。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标注问题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指出每版输出的缺陷：错误、风格、遗漏。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记录改动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写下这一版相对上一版改了什么、为何改。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沉淀模板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把有效的提示抽象成可复用模板，归入个人提示库。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这正是实验二的核心交付物之一，请认真养成习惯。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质量评估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评估生成代码质量的三个维度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功能正确性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是否满足需求、通过测试、正确处理边界与异常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代码风格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命名、结构、是否符合规范，是否有坏味道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可读性与可维护性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注释是否到位、逻辑是否清晰、他人能否快速理解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设计评分量表，对多轮生成结果打分对比（实验二）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本章小结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本章小结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20824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208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提示词工程是系统化设计模型输入、稳定获得高质量输出的技能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结构化四要素：角色 · 上下文 · 任务 · 格式（R-C-T-F）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76472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三类技术：零样本快速起步、少样本统一风格、链式推理攻克复杂逻辑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654296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面向代码：把“想法”翻译成可验证的“规格”，并注入上下文与约束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532120"/>
            <a:ext cx="493776" cy="49377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通过迭代日志与质量评估，把提示能力沉淀为可复用资产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课堂思考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为什么“给示例”有时比“讲一堆规则”更有效？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哪些编程任务最适合用链式推理（CoT）？为什么？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你会把哪些团队规范固化为提示模板或上下文文件？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如何设计一个客观的“生成代码质量评分量表”？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实验二将把这些思考落到实操：设计、对比、记录、评估。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572000" cy="4572000"/>
          </a:xfrm>
          <a:prstGeom prst="ellipse">
            <a:avLst/>
          </a:prstGeom>
          <a:solidFill>
            <a:srgbClr val="0B8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把话说清楚，AI 才能写得对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383280"/>
            <a:ext cx="182880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掌握了提示词的结构与策略，下一步用实验把它打磨成肌肉记忆。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601200" cy="82296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6C0EF"/>
                </a:solidFill>
                <a:latin typeface="Microsoft YaHei"/>
                <a:ea typeface="Microsoft YaHei"/>
                <a:cs typeface="Microsoft YaHei"/>
              </a:rPr>
              <a:t>➜  衔接实验：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实验二 · 提示词工程实战与代码生成调优（4学时）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