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-1097280"/>
            <a:ext cx="5029200" cy="5029200"/>
          </a:xfrm>
          <a:prstGeom prst="ellipse">
            <a:avLst/>
          </a:prstGeom>
          <a:solidFill>
            <a:srgbClr val="5456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149840" y="2926080"/>
            <a:ext cx="4114800" cy="41148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23444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CHAPTER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91640"/>
            <a:ext cx="877824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4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AI编程概论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429000"/>
            <a:ext cx="87782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Chapter 1 · Introduction to AI Programming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841248" y="4069080"/>
            <a:ext cx="2011680" cy="41148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4297680"/>
            <a:ext cx="8961120" cy="12801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理解AI辅助编程的核心概念与人机协作开发范式，纵览从代码补全到生成式AI、再到自主智能体的演进，建立对主流工具生态的整体认知。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6126480"/>
            <a:ext cx="8229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本章导览 · 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本章我们将讨论这些内容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39112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39112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6" name="Rectangle 5"/>
          <p:cNvSpPr/>
          <p:nvPr/>
        </p:nvSpPr>
        <p:spPr>
          <a:xfrm>
            <a:off x="1143000" y="2688336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AI编程的定义与基本概念</a:t>
            </a:r>
          </a:p>
        </p:txBody>
      </p:sp>
      <p:sp>
        <p:nvSpPr>
          <p:cNvPr id="8" name="Oval 7"/>
          <p:cNvSpPr/>
          <p:nvPr/>
        </p:nvSpPr>
        <p:spPr>
          <a:xfrm>
            <a:off x="502920" y="2916936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916936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0" name="Rectangle 9"/>
          <p:cNvSpPr/>
          <p:nvPr/>
        </p:nvSpPr>
        <p:spPr>
          <a:xfrm>
            <a:off x="1143000" y="3566160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从代码补全到生成式AI的演进历程</a:t>
            </a:r>
          </a:p>
        </p:txBody>
      </p:sp>
      <p:sp>
        <p:nvSpPr>
          <p:cNvPr id="12" name="Oval 11"/>
          <p:cNvSpPr/>
          <p:nvPr/>
        </p:nvSpPr>
        <p:spPr>
          <a:xfrm>
            <a:off x="502920" y="3794760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2920" y="3794760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143000" y="4443984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AI编程工具生态概览与分类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4672583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4672583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143000" y="5321808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工具能力边界与适用场景</a:t>
            </a:r>
          </a:p>
        </p:txBody>
      </p:sp>
      <p:sp>
        <p:nvSpPr>
          <p:cNvPr id="20" name="Oval 19"/>
          <p:cNvSpPr/>
          <p:nvPr/>
        </p:nvSpPr>
        <p:spPr>
          <a:xfrm>
            <a:off x="502920" y="5550408"/>
            <a:ext cx="457200" cy="457200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5550408"/>
            <a:ext cx="457200" cy="4572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143000" y="6199632"/>
            <a:ext cx="10515600" cy="10972"/>
          </a:xfrm>
          <a:prstGeom prst="rect">
            <a:avLst/>
          </a:prstGeom>
          <a:solidFill>
            <a:srgbClr val="D9DE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本课程定位、学习路线与心态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学习目标 ·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学完本章你应当能够……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828800"/>
            <a:ext cx="91440" cy="43891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" y="2121408"/>
            <a:ext cx="1371600" cy="438912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掌握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理解AI辅助编程的核心概念，把握人机协作范式的本质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准确表述AI辅助编程的定义与边界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说明人机协作的角色分工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区分自动补全、生成式与Agent三类形态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22978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2978" y="1828800"/>
            <a:ext cx="91440" cy="4389120"/>
          </a:xfrm>
          <a:prstGeom prst="rect">
            <a:avLst/>
          </a:prstGeom>
          <a:solidFill>
            <a:srgbClr val="404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597298" y="2121408"/>
            <a:ext cx="1371600" cy="438912"/>
          </a:xfrm>
          <a:prstGeom prst="roundRect">
            <a:avLst/>
          </a:prstGeom>
          <a:solidFill>
            <a:srgbClr val="404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97298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熟悉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7298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AI编程工具的发展脉络与演进逻辑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97298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40429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复述从规则到大模型的关键节点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40429C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解释生成式AI带来的范式变化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43036" y="1828800"/>
            <a:ext cx="3545738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8143036" y="1828800"/>
            <a:ext cx="91440" cy="438912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417356" y="2121408"/>
            <a:ext cx="1371600" cy="438912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417356" y="2121408"/>
            <a:ext cx="1371600" cy="43891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了解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17356" y="2697480"/>
            <a:ext cx="3042818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</a:pPr>
            <a:r>
              <a:rPr sz="14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主流工具生态系统的基本构成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17356" y="3977639"/>
            <a:ext cx="3042818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列举IDE插件/独立编辑器/CLI/云端四类工具</a:t>
            </a:r>
          </a:p>
          <a:p>
            <a:pPr algn="l">
              <a:lnSpc>
                <a:spcPct val="115000"/>
              </a:lnSpc>
              <a:spcAft>
                <a:spcPts val="7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</a:t>
            </a:r>
            <a:r>
              <a:rPr sz="12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识别代表性产品及其定位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4F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6A6DF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AI编程的定义与发展历程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Definition &amp; Evolution of AI Programming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先厘清概念：什么是AI辅助编程？它与传统编程有何不同？又是如何一步步发展到今天的？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核心概念 ·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什么是AI辅助编程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949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AI辅助编程（AI-Assisted Programming）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利用大语言模型（LLM）等人工智能技术，在软件开发全过程中辅助开发者完成需求理解、代码生成、调试重构与测试的工作方式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它不是“AI替你写代码”，而是“你与AI协作写代码”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开发者负责意图表达、方案判断与质量把关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AI负责快速生成候选、检索知识、执行重复性劳动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一句话定义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把自然语言意图，经由AI转化为可运行、可维护的工程代码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886200" cy="4389120"/>
          </a:xfrm>
          <a:prstGeom prst="round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8620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148840"/>
            <a:ext cx="3886200" cy="320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关键词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97480"/>
            <a:ext cx="333756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LLM 大语言模型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Prompt 提示词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Context 上下文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Human-in-the-loop 人在回路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Agent 智能体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AI是“强力副驾”，方向盘仍握在开发者手中。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本质特征 · CHARACTERISTICS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AI辅助编程的四个核心特征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自然语言驱动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用接近自然语言的意图描述驱动开发，降低“想法→代码”的转换门槛。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生成而非检索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模型基于学习到的模式生成新代码，而非简单复制粘贴既有片段。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上下文敏感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输出质量高度依赖提供的上下文：项目结构、约束、示例。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概率性输出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结果具有不确定性，可能出错或“幻觉”，必须经人工验证。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演进历程 · EVOLUTION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从代码补全到生成式AI：五个阶段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A1A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1980s—2000s：规则与模板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基于语法规则的关键字补全、代码片段（snippet）模板，本质是查表与匹配。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2000s—2015：统计与索引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IntelliSense 等基于符号表与统计的智能感知，按类型与作用域提示候选。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2015—2020：深度学习补全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RNN/Transformer 学习大规模代码语料，实现更连贯的行内预测。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2021—2022：生成式爆发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Copilot 等基于大模型，可由注释/函数名生成整段代码。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2023—至今：对话与Agent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Claude Code、Codex 等支持多轮对话、跨文件理解与自主执行任务。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趋势数据 · WHY NOW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生成式AI正在重塑开发方式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3515258" cy="914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70%+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开发者已尝试AI工具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主流调查显示采用率持续走高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8218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338218" y="2377440"/>
            <a:ext cx="3515258" cy="914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1098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1人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1098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“一人即团队”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1098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个人可独立完成全栈小项目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73516" y="2377440"/>
            <a:ext cx="3515258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173516" y="2377440"/>
            <a:ext cx="3515258" cy="914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56396" y="2788920"/>
            <a:ext cx="3149498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多轮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56396" y="3794760"/>
            <a:ext cx="3149498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对话式开发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56396" y="4251960"/>
            <a:ext cx="3149498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需求→生成→验证→迭代成为常态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数字用于说明趋势量级，具体比例随调查与时间不同而变化，重点在“拐点已至”。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范式对比 · PARADIGM SHIFT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传统编程 vs AI辅助编程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72887" cy="731520"/>
          </a:xfrm>
          <a:prstGeom prst="round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5272887" cy="365760"/>
          </a:xfrm>
          <a:prstGeom prst="rect">
            <a:avLst/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传统编程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逐行手写实现细节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知识来自记忆与查文档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效率受打字与检索速度限制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调试主要靠人工排查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个人产出与经验强相关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5887" y="1828800"/>
            <a:ext cx="5272887" cy="7315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5887" y="2194560"/>
            <a:ext cx="5272887" cy="365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AI辅助编程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描述意图，AI生成候选实现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知识由模型即时供给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效率取决于意图表达与判断力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AI协助定位与解释错误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放大个人能力，降低门槛</a:t>
            </a:r>
          </a:p>
        </p:txBody>
      </p:sp>
      <p:sp>
        <p:nvSpPr>
          <p:cNvPr id="14" name="Oval 13"/>
          <p:cNvSpPr/>
          <p:nvPr/>
        </p:nvSpPr>
        <p:spPr>
          <a:xfrm>
            <a:off x="5803239" y="3730752"/>
            <a:ext cx="585216" cy="585216"/>
          </a:xfrm>
          <a:prstGeom prst="ellipse">
            <a:avLst/>
          </a:prstGeom>
          <a:solidFill>
            <a:srgbClr val="404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3239" y="373075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核心理解 · HUMAN-AI COLLABORATION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人机协作开发范式的本质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范式转变：从“编写代码”到“引导生成 + 审查把关”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开发者的价值重心上移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更强调问题定义、架构判断、质量评估与责任承担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AI承担“认知外包”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把记忆性、重复性、检索性工作交给模型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人始终在回路中（Human-in-the-loop）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AI提议，人决策；AI起草，人验收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能力边界意识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理解“AI擅长什么、不擅长什么”，是高效协作的前提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本课程的核心，就是训练这种新的“人机协作肌肉记忆”。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052560" y="-914400"/>
            <a:ext cx="4572000" cy="4572000"/>
          </a:xfrm>
          <a:prstGeom prst="ellipse">
            <a:avLst/>
          </a:prstGeom>
          <a:solidFill>
            <a:srgbClr val="4F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188720"/>
            <a:ext cx="18288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468880"/>
            <a:ext cx="100584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AI不会取代程序员，但会用AI的程序员将取代不用AI的程序员。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502920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— AI时代开发者的共识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4F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6A6DF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AI编程工具生态概览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The AI Coding Tool Ecosystem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市面上工具琳琅满目，如何归类理解？它们各自的定位、能力边界与适用场景是什么？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工具分类 ·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AI编程工具的四种形态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IDE插件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嵌入VS Code/JetBrains等编辑器，提供行内补全、对话侧栏。代表：GitHub Copilot。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独立AI编辑器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以AI为中心重构的编辑器/IDE，深度集成多文件理解。代表：Cursor。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命令行/Agent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在终端中以对话或自主方式执行编码任务。代表：Claude Code、Codex CLI。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云端平台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浏览器内的对话与代码沙箱，无需本地配置。代表：各类Web版助手。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生态地图 ·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代表性工具与定位（2025年图景）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694944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行内补全与编辑器内对话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GitHub Copilot：最广泛使用的IDE补全与Chat插件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Cursor：以AI为核心的独立编辑器，擅长跨文件改写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命令行与智能体（本课程重点）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Claude Code：Anthropic的终端编码Agent，强于多文件、长任务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OpenAI Codex / Codex CLI：OpenAI的代码生成与命令行Agent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模型层（底座）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Claude、GPT、Gemini 等大模型，决定工具能力上限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0" y="1828800"/>
            <a:ext cx="3886200" cy="4389120"/>
          </a:xfrm>
          <a:prstGeom prst="roundRect">
            <a:avLst/>
          </a:prstGeom>
          <a:solidFill>
            <a:srgbClr val="0F15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772400" y="1828800"/>
            <a:ext cx="3886200" cy="64008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0" y="2148840"/>
            <a:ext cx="3886200" cy="32004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46720" y="1828800"/>
            <a:ext cx="333756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选型先看四问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046720" y="2697480"/>
            <a:ext cx="3337560" cy="338327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要解决什么任务？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在什么环境工作？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对上下文需求多大？</a:t>
            </a:r>
          </a:p>
          <a:p>
            <a:pPr algn="l">
              <a:lnSpc>
                <a:spcPct val="125000"/>
              </a:lnSpc>
              <a:spcAft>
                <a:spcPts val="700"/>
              </a:spcAft>
            </a:pPr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·  </a:t>
            </a:r>
            <a:r>
              <a:rPr sz="1250" b="0">
                <a:solidFill>
                  <a:srgbClr val="D7DCEC"/>
                </a:solidFill>
                <a:latin typeface="Microsoft YaHei"/>
                <a:ea typeface="Microsoft YaHei"/>
                <a:cs typeface="Microsoft YaHei"/>
              </a:rPr>
              <a:t>预算与合规要求？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5989320"/>
            <a:ext cx="6949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工具更迭很快，重要的是理解“能力类别”而非记住某个产品名。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能力边界 · CAPABILITIES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AI工具的能力边界：擅长什么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AI工具通常擅长的任务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样板代码、脚手架、CRUD与常见算法实现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跨语言翻译、格式转换、正则与SQL编写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为既有代码生成注释、文档与单元测试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解释报错信息、给出调试线索与重构建议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共同点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模式清晰、上下文可表达、有大量公开语料支撑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能力边界 ·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AI工具的能力边界：不擅长什么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AI工具容易出问题的场景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依赖隐性业务知识、私有规范或最新API的任务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需要全局架构权衡与长期可维护性的决策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强一致性、安全性与正确性要求极高的核心逻辑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“幻觉”：自信地给出不存在的函数或错误事实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应对之道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提供充分上下文、小步验证、人工审查、写测试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边界不是为了否定AI，而是为了知道何时必须由人把关。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场景判断 · WHEN TO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哪些任务适合交给AI，哪些要谨慎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272887" cy="73152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2194560"/>
            <a:ext cx="5272887" cy="3657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 适合优先用AI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原型与脚手架快速搭建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重复模板与样板代码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写测试用例与文档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学习新框架/新语言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排查常见报错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15887" y="1828800"/>
            <a:ext cx="5272887" cy="438912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415887" y="1828800"/>
            <a:ext cx="5272887" cy="7315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15887" y="2194560"/>
            <a:ext cx="5272887" cy="36576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735927" y="1828800"/>
            <a:ext cx="4632807" cy="7315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⚠ 需谨慎/人工主导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735927" y="2788920"/>
            <a:ext cx="4632807" cy="329183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核心算法与安全逻辑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涉及私有/敏感数据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强合规与审计场景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架构级长期决策</a:t>
            </a:r>
          </a:p>
          <a:p>
            <a:pPr algn="l">
              <a:lnSpc>
                <a:spcPct val="120000"/>
              </a:lnSpc>
              <a:spcAft>
                <a:spcPts val="900"/>
              </a:spcAft>
            </a:pPr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•  </a:t>
            </a:r>
            <a:r>
              <a:rPr sz="135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对正确性零容忍的模块</a:t>
            </a:r>
          </a:p>
        </p:txBody>
      </p:sp>
      <p:sp>
        <p:nvSpPr>
          <p:cNvPr id="14" name="Oval 13"/>
          <p:cNvSpPr/>
          <p:nvPr/>
        </p:nvSpPr>
        <p:spPr>
          <a:xfrm>
            <a:off x="5803239" y="3730752"/>
            <a:ext cx="585216" cy="585216"/>
          </a:xfrm>
          <a:prstGeom prst="ellipse">
            <a:avLst/>
          </a:prstGeom>
          <a:solidFill>
            <a:srgbClr val="40429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803239" y="3730752"/>
            <a:ext cx="585216" cy="58521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选型框架 · SELECTION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工具选型的五个考量维度</a:t>
            </a:r>
          </a:p>
        </p:txBody>
      </p:sp>
      <p:sp>
        <p:nvSpPr>
          <p:cNvPr id="4" name="Rectangle 3"/>
          <p:cNvSpPr/>
          <p:nvPr/>
        </p:nvSpPr>
        <p:spPr>
          <a:xfrm>
            <a:off x="738835" y="2075688"/>
            <a:ext cx="21945" cy="3401568"/>
          </a:xfrm>
          <a:prstGeom prst="rect">
            <a:avLst/>
          </a:prstGeom>
          <a:solidFill>
            <a:srgbClr val="A1A3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02920" y="1828800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82880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1783080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任务类型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176272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行内补全？整文件生成？跨文件重构？自主多步任务？不同形态各有所长。</a:t>
            </a:r>
          </a:p>
        </p:txBody>
      </p:sp>
      <p:sp>
        <p:nvSpPr>
          <p:cNvPr id="9" name="Oval 8"/>
          <p:cNvSpPr/>
          <p:nvPr/>
        </p:nvSpPr>
        <p:spPr>
          <a:xfrm>
            <a:off x="502920" y="2679192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67919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2633472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工作环境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026664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习惯IDE还是终端？是否需要离线/私有部署？团队是否已有标准。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3529584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352958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3483864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上下文能力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3877056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能否读取整个项目、长文件与外部文档，决定复杂任务的成败。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" y="4379976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02920" y="437997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334256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可控与可审查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88720" y="4727448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是否便于查看改动、回滚与人工审查，关系到工程安全。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" y="5230368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523036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184648"/>
            <a:ext cx="104241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成本与合规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577840"/>
            <a:ext cx="10424160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250" b="0">
                <a:solidFill>
                  <a:srgbClr val="475569"/>
                </a:solidFill>
                <a:latin typeface="Microsoft YaHei"/>
                <a:ea typeface="Microsoft YaHei"/>
                <a:cs typeface="Microsoft YaHei"/>
              </a:rPr>
              <a:t>订阅与调用成本、数据是否出境、企业安全与版权策略。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371600" y="3931920"/>
            <a:ext cx="5486400" cy="54864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1463040"/>
            <a:ext cx="4572000" cy="4572000"/>
          </a:xfrm>
          <a:prstGeom prst="ellipse">
            <a:avLst/>
          </a:prstGeom>
          <a:solidFill>
            <a:srgbClr val="4F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783080"/>
            <a:ext cx="29260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0" b="1">
                <a:solidFill>
                  <a:srgbClr val="6A6DF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0" y="2286000"/>
            <a:ext cx="7863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本课程定位与学习路线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3154680"/>
            <a:ext cx="7680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Course Roadmap &amp; Mindset</a:t>
            </a:r>
          </a:p>
        </p:txBody>
      </p:sp>
      <p:sp>
        <p:nvSpPr>
          <p:cNvPr id="7" name="Rectangle 6"/>
          <p:cNvSpPr/>
          <p:nvPr/>
        </p:nvSpPr>
        <p:spPr>
          <a:xfrm>
            <a:off x="3419856" y="3611880"/>
            <a:ext cx="1554480" cy="36576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401568" y="3840480"/>
            <a:ext cx="768096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9天，6小时/天，项目驱动、AI赋能。我们将怎样从入门走到独立交付一个完整项目？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课程理念 · PHILOSOPHY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本课程的核心理念：项目驱动、AI赋能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以“做项目”为主线，而非孤立讲语法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在真实项目中学习需求分析、生成、调试、重构、测试的完整闭环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强调“人机协作”的现代开发范式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学会把任务拆解给AI，并对结果负责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聚焦前沿工具：Claude Code / Codex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在高强度实操中形成可迁移的方法论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最终目标：重塑AI时代的编程思维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为后续AI智能体开发打下技术基石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学习路线 · 9-DAY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9天学习路线总览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3545738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231129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概论与环境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299709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AI编程概论 + 实验一：工具环境搭建与初体验。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22978" y="1828800"/>
            <a:ext cx="3545738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4597298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97298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310530" y="2103120"/>
            <a:ext cx="231129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提示词工程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7298" y="2788920"/>
            <a:ext cx="299709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提示词工程基础 + 实验二：提示词实战与生成调优。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143036" y="1828800"/>
            <a:ext cx="3545738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7356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7356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30588" y="2103120"/>
            <a:ext cx="231129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工具实战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7356" y="2788920"/>
            <a:ext cx="299709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主流工具实践 + 实验三：AI辅助全栈小项目。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02920" y="4160520"/>
            <a:ext cx="3545738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90472" y="4434840"/>
            <a:ext cx="231129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生成与重构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5120640"/>
            <a:ext cx="299709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代码生成与重构 + 实验四：重构与测试生成。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22978" y="4160520"/>
            <a:ext cx="3545738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4597298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97298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310530" y="4434840"/>
            <a:ext cx="231129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调试与协作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97298" y="5120640"/>
            <a:ext cx="299709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AI辅助调试、软件工程协作。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43036" y="4160520"/>
            <a:ext cx="3545738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8417356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17356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D6-9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30588" y="4434840"/>
            <a:ext cx="231129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综合项目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17356" y="5120640"/>
            <a:ext cx="2997098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伦理与未来 + 实验五：综合项目设计、实现与答辩。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学习心态 · MINDSET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正确的学习心态与常见误区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应有的心态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把AI当协作者：会提问、敢质疑、勤验证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接受不确定性，用小步迭代逼近正确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常见误区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盲目信任：直接运行未经审查的生成代码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一步到位：期望一个提示就得到完美系统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放弃思考：不再理解代码，沦为“复制粘贴工”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工具越强，越要保持对代码的理解与掌控力。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54864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课程概览 · COURSE AT A GLANCE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868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2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课程关键信息一览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2377440"/>
            <a:ext cx="2556433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502920" y="2377440"/>
            <a:ext cx="2556433" cy="914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2788920"/>
            <a:ext cx="219067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9 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794760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沉浸式项目开发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425196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每天6小时，共54学时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9393" y="2377440"/>
            <a:ext cx="2556433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3379393" y="2377440"/>
            <a:ext cx="2556433" cy="914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62273" y="2788920"/>
            <a:ext cx="219067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3 学分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62273" y="3794760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课内实践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62273" y="425196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全部为In-class Practice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55867" y="2377440"/>
            <a:ext cx="2556433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55867" y="2377440"/>
            <a:ext cx="2556433" cy="914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38747" y="2788920"/>
            <a:ext cx="219067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5 个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38747" y="3794760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实验项目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38747" y="425196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由验证性到综合性递进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32341" y="2377440"/>
            <a:ext cx="2556433" cy="256032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9132341" y="2377440"/>
            <a:ext cx="2556433" cy="91440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15221" y="2788920"/>
            <a:ext cx="2190673" cy="10058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6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答辩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15221" y="3794760"/>
            <a:ext cx="2190673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小组项目考核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315221" y="4251960"/>
            <a:ext cx="2190673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1150" b="0">
                <a:solidFill>
                  <a:srgbClr val="AEB7D6"/>
                </a:solidFill>
                <a:latin typeface="Microsoft YaHei"/>
                <a:ea typeface="Microsoft YaHei"/>
                <a:cs typeface="Microsoft YaHei"/>
              </a:rPr>
              <a:t>以项目展示与报告为主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525780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30000"/>
              </a:lnSpc>
            </a:pPr>
            <a:r>
              <a:rPr sz="13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授课地点：人工智能学院楼401；提供GPU工作站与所需Coding Plan订阅。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HELLO, AI CODING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初体验：用一句话生成一个函数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664208"/>
            <a:ext cx="1115568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把自然语言意图交给AI，得到可运行代码——这就是本课程最基础的工作单元。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2240280"/>
            <a:ext cx="11183112" cy="3703320"/>
          </a:xfrm>
          <a:prstGeom prst="roundRect">
            <a:avLst/>
          </a:prstGeom>
          <a:solidFill>
            <a:srgbClr val="0B10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77240" y="2441448"/>
            <a:ext cx="128016" cy="128016"/>
          </a:xfrm>
          <a:prstGeom prst="ellipse">
            <a:avLst/>
          </a:prstGeom>
          <a:solidFill>
            <a:srgbClr val="FF5F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33271" y="2441448"/>
            <a:ext cx="128016" cy="128016"/>
          </a:xfrm>
          <a:prstGeom prst="ellipse">
            <a:avLst/>
          </a:prstGeom>
          <a:solidFill>
            <a:srgbClr val="FFB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289304" y="2441448"/>
            <a:ext cx="128016" cy="128016"/>
          </a:xfrm>
          <a:prstGeom prst="ellipse">
            <a:avLst/>
          </a:prstGeom>
          <a:solidFill>
            <a:srgbClr val="27C9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737360" y="2350008"/>
            <a:ext cx="914400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8B97B5"/>
                </a:solidFill>
                <a:latin typeface="Microsoft YaHei"/>
                <a:ea typeface="Microsoft YaHei"/>
                <a:cs typeface="Microsoft YaHei"/>
              </a:rPr>
              <a:t>python · prompt → code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788920"/>
            <a:ext cx="1042416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给AI的提示（Prompt）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请用Python写一个函数 is_prime(n)，判断n是否为质数，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F2C94C"/>
                </a:solidFill>
                <a:latin typeface="Consolas"/>
                <a:ea typeface="Consolas"/>
                <a:cs typeface="Consolas"/>
              </a:rPr>
              <a:t>要求：处理n&lt;2的情况，加入类型注解与简短文档字符串。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6FCF97"/>
                </a:solidFill>
                <a:latin typeface="Consolas"/>
                <a:ea typeface="Consolas"/>
                <a:cs typeface="Consolas"/>
              </a:rPr>
              <a:t># AI生成的代码（需人工审查）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def is_prime(n: int) -&gt; bool: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"""判断 n 是否为质数。"""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if n &lt; 2: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   return False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for i in range(2, int(n ** 0.5) + 1):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   if n % i == 0: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        return False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50" b="0">
                <a:solidFill>
                  <a:srgbClr val="E6EAF5"/>
                </a:solidFill>
                <a:latin typeface="Consolas"/>
                <a:ea typeface="Consolas"/>
                <a:cs typeface="Consolas"/>
              </a:rPr>
              <a:t>    return True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016752"/>
            <a:ext cx="1115568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5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注意：生成后仍需阅读、测试与验证——这是贯穿全课程的习惯。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职业素养 · RESPONSIBLE USE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从第一天起，负责任地使用AI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代码安全与质量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不盲目采纳；理解每一行再合并到项目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版权与合规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注意生成代码的来源风险与企业使用政策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数据隐私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不要把敏感/机密信息随意贴给在线模型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（第六章将系统展开伦理、安全与未来话题）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术语表 · GLOSSARY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本章关键术语速查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02920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77240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90472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LLM 大语言模型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在海量文本上训练、能理解与生成语言/代码的神经网络模型。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33007" y="182880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507327" y="210312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07327" y="210312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220559" y="210312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Token 词元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07327" y="278892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模型处理文本的基本单位，影响上下文长度与计费。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77240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90472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Prompt 提示词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给模型的输入指令，质量直接决定输出质量。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33007" y="4160520"/>
            <a:ext cx="5455767" cy="2057400"/>
          </a:xfrm>
          <a:prstGeom prst="roundRect">
            <a:avLst/>
          </a:prstGeom>
          <a:solidFill>
            <a:srgbClr val="F4F6FB"/>
          </a:solidFill>
          <a:ln>
            <a:noFill/>
          </a:ln>
          <a:effectLst/>
          <a:effectLst>
            <a:outerShdw blurRad="90000" dist="38100" dir="5400000" rotWithShape="0">
              <a:srgbClr val="1E293B">
                <a:alpha val="22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507327" y="4434840"/>
            <a:ext cx="566928" cy="566928"/>
          </a:xfrm>
          <a:prstGeom prst="round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07327" y="443484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④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20559" y="4434840"/>
            <a:ext cx="4221327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5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Agent 智能体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07327" y="5120640"/>
            <a:ext cx="4907127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能自主规划并调用工具、分步完成任务的AI系统。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本章小结 ·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本章小结</a:t>
            </a:r>
          </a:p>
        </p:txBody>
      </p:sp>
      <p:sp>
        <p:nvSpPr>
          <p:cNvPr id="4" name="Oval 3"/>
          <p:cNvSpPr/>
          <p:nvPr/>
        </p:nvSpPr>
        <p:spPr>
          <a:xfrm>
            <a:off x="502920" y="2020824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020824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88720" y="1828800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AI辅助编程是“人机协作”的开发方式：AI生成，人把关</a:t>
            </a:r>
          </a:p>
        </p:txBody>
      </p:sp>
      <p:sp>
        <p:nvSpPr>
          <p:cNvPr id="7" name="Oval 6"/>
          <p:cNvSpPr/>
          <p:nvPr/>
        </p:nvSpPr>
        <p:spPr>
          <a:xfrm>
            <a:off x="502920" y="2898648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898648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706624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技术演进经历规则→统计→深度学习→生成式→Agent五个阶段</a:t>
            </a:r>
          </a:p>
        </p:txBody>
      </p:sp>
      <p:sp>
        <p:nvSpPr>
          <p:cNvPr id="10" name="Oval 9"/>
          <p:cNvSpPr/>
          <p:nvPr/>
        </p:nvSpPr>
        <p:spPr>
          <a:xfrm>
            <a:off x="502920" y="3776472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02920" y="3776472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88720" y="3584448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工具分为IDE插件、独立编辑器、CLI/Agent、云端平台四类</a:t>
            </a:r>
          </a:p>
        </p:txBody>
      </p:sp>
      <p:sp>
        <p:nvSpPr>
          <p:cNvPr id="13" name="Oval 12"/>
          <p:cNvSpPr/>
          <p:nvPr/>
        </p:nvSpPr>
        <p:spPr>
          <a:xfrm>
            <a:off x="502920" y="4654296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2920" y="4654296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4462272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AI有清晰的能力边界，需按任务场景理性选型与验证</a:t>
            </a:r>
          </a:p>
        </p:txBody>
      </p:sp>
      <p:sp>
        <p:nvSpPr>
          <p:cNvPr id="16" name="Oval 15"/>
          <p:cNvSpPr/>
          <p:nvPr/>
        </p:nvSpPr>
        <p:spPr>
          <a:xfrm>
            <a:off x="502920" y="5532120"/>
            <a:ext cx="493776" cy="493776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5532120"/>
            <a:ext cx="493776" cy="49377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5340096"/>
            <a:ext cx="10424160" cy="8778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0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本课程以项目驱动、AI赋能，9天走完从入门到交付的闭环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课堂思考 · 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思考与讨论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结合你的经历，AI最能帮上忙的编程场景是什么？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“生成式”与“检索式”补全的本质区别在哪里？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为什么说“人在回路”对工程安全至关重要？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如果AI能生成大部分代码，开发者的核心竞争力会变成什么？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989320"/>
            <a:ext cx="11155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提示   </a:t>
            </a: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带着这些问题进入后续章节与实验，会有更深的体会。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457200"/>
            <a:ext cx="105156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课后任务 · HOMEWORK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49808"/>
            <a:ext cx="11155680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30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课后任务与下章预习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11155680" cy="4389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动手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浏览一款AI编程工具官网，记录其定位与主要功能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阅读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《AI辅助编程实战》对应章节；浏览Vibe Coding开源教程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预习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第二章“提示词工程”——思考“怎样的描述能让AI更懂你”</a:t>
            </a:r>
          </a:p>
          <a:p>
            <a:pPr algn="l">
              <a:lnSpc>
                <a:spcPct val="120000"/>
              </a:lnSpc>
              <a:spcBef>
                <a:spcPts val="600"/>
              </a:spcBef>
              <a:spcAft>
                <a:spcPts val="500"/>
              </a:spcAft>
            </a:pPr>
            <a:r>
              <a:rPr sz="12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▶  </a:t>
            </a:r>
            <a:r>
              <a:rPr sz="1600" b="1">
                <a:solidFill>
                  <a:srgbClr val="1E293B"/>
                </a:solidFill>
                <a:latin typeface="Microsoft YaHei"/>
                <a:ea typeface="Microsoft YaHei"/>
                <a:cs typeface="Microsoft YaHei"/>
              </a:rPr>
              <a:t>准备</a:t>
            </a:r>
          </a:p>
          <a:p>
            <a:pPr algn="l">
              <a:lnSpc>
                <a:spcPct val="120000"/>
              </a:lnSpc>
              <a:spcAft>
                <a:spcPts val="400"/>
              </a:spcAft>
            </a:pPr>
            <a:r>
              <a:rPr sz="12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—  </a:t>
            </a: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实验一所需账号与环境（详见实验一指导书）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437376"/>
            <a:ext cx="731520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9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AI辅助编程 · 深圳技术大学 人工智能学院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28655" y="6437376"/>
            <a:ext cx="960120" cy="2743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r"/>
            <a:r>
              <a:rPr sz="900" b="1">
                <a:solidFill>
                  <a:srgbClr val="6366F1"/>
                </a:solidFill>
                <a:latin typeface="Microsoft YaHei"/>
                <a:ea typeface="Microsoft YaHei"/>
                <a:cs typeface="Microsoft YaHei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53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280160" y="-1280160"/>
            <a:ext cx="4572000" cy="4572000"/>
          </a:xfrm>
          <a:prstGeom prst="ellipse">
            <a:avLst/>
          </a:prstGeom>
          <a:solidFill>
            <a:srgbClr val="4F51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509760" y="3291840"/>
            <a:ext cx="4572000" cy="4572000"/>
          </a:xfrm>
          <a:prstGeom prst="ellipse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2194560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准备好，进入AI编程的新时代</a:t>
            </a:r>
          </a:p>
        </p:txBody>
      </p:sp>
      <p:sp>
        <p:nvSpPr>
          <p:cNvPr id="5" name="Rectangle 4"/>
          <p:cNvSpPr/>
          <p:nvPr/>
        </p:nvSpPr>
        <p:spPr>
          <a:xfrm>
            <a:off x="941832" y="3383280"/>
            <a:ext cx="1828800" cy="4572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365760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600" b="0">
                <a:solidFill>
                  <a:srgbClr val="C7CEE5"/>
                </a:solidFill>
                <a:latin typeface="Microsoft YaHei"/>
                <a:ea typeface="Microsoft YaHei"/>
                <a:cs typeface="Microsoft YaHei"/>
              </a:rPr>
              <a:t>理解了概念与生态，下一步就动手把环境搭起来，亲手体验人机协作。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4572000"/>
            <a:ext cx="9601200" cy="822960"/>
          </a:xfrm>
          <a:prstGeom prst="roundRect">
            <a:avLst/>
          </a:prstGeom>
          <a:solidFill>
            <a:srgbClr val="1B235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4400" y="4572000"/>
            <a:ext cx="91440" cy="82296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4572000"/>
            <a:ext cx="91440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300" b="1">
                <a:solidFill>
                  <a:srgbClr val="9193F5"/>
                </a:solidFill>
                <a:latin typeface="Microsoft YaHei"/>
                <a:ea typeface="Microsoft YaHei"/>
                <a:cs typeface="Microsoft YaHei"/>
              </a:rPr>
              <a:t>➜  衔接实验：</a:t>
            </a:r>
            <a:r>
              <a:rPr sz="13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实验一 · AI编程工具环境搭建与初体验（2学时）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