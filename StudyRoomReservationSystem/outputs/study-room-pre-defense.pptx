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EBFA4A0-51BC-448D-9694-6706D7B5147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24C4FD3A-A7CC-478C-9ED1-E70CA2E56672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校园自习室预约管理系统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D75DC173-0F81-4EEA-AB46-64A728130D57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C++17 控制台课程项目 | 明日 Pre 展示材料</a:t>
            </a:r>
          </a:p>
        </p:txBody>
      </p:sp>
      <p:sp>
        <p:nvSpPr>
          <p:cNvPr id="4" name="cover-panel">
            <a:extLst>
              <a:ext uri="{FF2B5EF4-FFF2-40B4-BE49-F238E27FC236}">
                <a16:creationId xmlns:a16="http://schemas.microsoft.com/office/drawing/2014/main" id="{3340FE76-6CDC-4308-B233-4364E2436A6E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08204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7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cover-left-heading">
            <a:extLst>
              <a:ext uri="{FF2B5EF4-FFF2-40B4-BE49-F238E27FC236}">
                <a16:creationId xmlns:a16="http://schemas.microsoft.com/office/drawing/2014/main" id="{03C8037F-A412-4427-9BC7-9033A916C007}"/>
              </a:ext>
            </a:extLst>
          </p:cNvPr>
          <p:cNvSpPr>
            <a:spLocks noGrp="1"/>
          </p:cNvSpPr>
          <p:nvPr/>
        </p:nvSpPr>
        <p:spPr>
          <a:xfrm>
            <a:off x="1028700" y="30099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项目定位</a:t>
            </a:r>
          </a:p>
        </p:txBody>
      </p:sp>
      <p:sp>
        <p:nvSpPr>
          <p:cNvPr id="6" name="cover-left-bullet-1">
            <a:extLst>
              <a:ext uri="{FF2B5EF4-FFF2-40B4-BE49-F238E27FC236}">
                <a16:creationId xmlns:a16="http://schemas.microsoft.com/office/drawing/2014/main" id="{5C23E79F-4A68-46B5-9D40-851C89B08A46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面向校园自习室场景的座位预约管理系统</a:t>
            </a:r>
          </a:p>
        </p:txBody>
      </p:sp>
      <p:sp>
        <p:nvSpPr>
          <p:cNvPr id="7" name="cover-left-bullet-2">
            <a:extLst>
              <a:ext uri="{FF2B5EF4-FFF2-40B4-BE49-F238E27FC236}">
                <a16:creationId xmlns:a16="http://schemas.microsoft.com/office/drawing/2014/main" id="{16E2D017-04FB-49BB-A50D-2F1C224EA002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强调类设计、继承、多态与文件读写</a:t>
            </a:r>
          </a:p>
        </p:txBody>
      </p:sp>
      <p:sp>
        <p:nvSpPr>
          <p:cNvPr id="8" name="cover-left-bullet-3">
            <a:extLst>
              <a:ext uri="{FF2B5EF4-FFF2-40B4-BE49-F238E27FC236}">
                <a16:creationId xmlns:a16="http://schemas.microsoft.com/office/drawing/2014/main" id="{288EF09C-E24A-45C9-9C6B-0725E7294E83}"/>
              </a:ext>
            </a:extLst>
          </p:cNvPr>
          <p:cNvSpPr>
            <a:spLocks noGrp="1"/>
          </p:cNvSpPr>
          <p:nvPr/>
        </p:nvSpPr>
        <p:spPr>
          <a:xfrm>
            <a:off x="1028700" y="4248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可在 Visual Studio / MSVC 下直接编译运行</a:t>
            </a:r>
          </a:p>
        </p:txBody>
      </p:sp>
      <p:sp>
        <p:nvSpPr>
          <p:cNvPr id="9" name="cover-right-heading">
            <a:extLst>
              <a:ext uri="{FF2B5EF4-FFF2-40B4-BE49-F238E27FC236}">
                <a16:creationId xmlns:a16="http://schemas.microsoft.com/office/drawing/2014/main" id="{76CCC157-FB7C-4B84-8DF3-A4DC4C075B3E}"/>
              </a:ext>
            </a:extLst>
          </p:cNvPr>
          <p:cNvSpPr>
            <a:spLocks noGrp="1"/>
          </p:cNvSpPr>
          <p:nvPr/>
        </p:nvSpPr>
        <p:spPr>
          <a:xfrm>
            <a:off x="6286500" y="3009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EA580C"/>
                </a:solidFill>
              </a:defRPr>
            </a:pPr>
            <a:r>
              <a:rPr sz="1950" b="1">
                <a:solidFill>
                  <a:srgbClr val="EA580C"/>
                </a:solidFill>
              </a:rPr>
              <a:t>本次展示重点</a:t>
            </a:r>
          </a:p>
        </p:txBody>
      </p:sp>
      <p:sp>
        <p:nvSpPr>
          <p:cNvPr id="10" name="cover-right-bullet-1">
            <a:extLst>
              <a:ext uri="{FF2B5EF4-FFF2-40B4-BE49-F238E27FC236}">
                <a16:creationId xmlns:a16="http://schemas.microsoft.com/office/drawing/2014/main" id="{D09845A5-8580-4E8B-96CC-660CDBC7ADDA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完整主流程演示</a:t>
            </a:r>
          </a:p>
        </p:txBody>
      </p:sp>
      <p:sp>
        <p:nvSpPr>
          <p:cNvPr id="11" name="cover-right-bullet-2">
            <a:extLst>
              <a:ext uri="{FF2B5EF4-FFF2-40B4-BE49-F238E27FC236}">
                <a16:creationId xmlns:a16="http://schemas.microsoft.com/office/drawing/2014/main" id="{25301B67-4690-45BC-863B-46379DB0584E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模块分工与系统整合结果</a:t>
            </a:r>
          </a:p>
        </p:txBody>
      </p:sp>
      <p:sp>
        <p:nvSpPr>
          <p:cNvPr id="12" name="cover-right-bullet-3">
            <a:extLst>
              <a:ext uri="{FF2B5EF4-FFF2-40B4-BE49-F238E27FC236}">
                <a16:creationId xmlns:a16="http://schemas.microsoft.com/office/drawing/2014/main" id="{0D7214F5-E5A9-4ADC-8B27-B5642A41B45C}"/>
              </a:ext>
            </a:extLst>
          </p:cNvPr>
          <p:cNvSpPr>
            <a:spLocks noGrp="1"/>
          </p:cNvSpPr>
          <p:nvPr/>
        </p:nvSpPr>
        <p:spPr>
          <a:xfrm>
            <a:off x="6286500" y="42862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C++ 知识点与可扩展方向</a:t>
            </a:r>
          </a:p>
        </p:txBody>
      </p:sp>
      <p:sp>
        <p:nvSpPr>
          <p:cNvPr id="15" name="footer-right-1">
            <a:extLst>
              <a:ext uri="{FF2B5EF4-FFF2-40B4-BE49-F238E27FC236}">
                <a16:creationId xmlns:a16="http://schemas.microsoft.com/office/drawing/2014/main" id="{954154D6-CDF4-4D78-9CC9-4A4C032D1EE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057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2-title">
            <a:extLst>
              <a:ext uri="{FF2B5EF4-FFF2-40B4-BE49-F238E27FC236}">
                <a16:creationId xmlns:a16="http://schemas.microsoft.com/office/drawing/2014/main" id="{87B1FC83-A3DA-4987-92CF-7BAF69C1F7C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1. 项目背景与目标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F36179A-1680-4C83-BA29-459C7FF1AB64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7145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3" name="s2-left-panel">
            <a:extLst>
              <a:ext uri="{FF2B5EF4-FFF2-40B4-BE49-F238E27FC236}">
                <a16:creationId xmlns:a16="http://schemas.microsoft.com/office/drawing/2014/main" id="{331E4ACB-1D56-4D3E-A827-0C9C1F7F1A2E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5048250" cy="436245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s2-left-heading">
            <a:extLst>
              <a:ext uri="{FF2B5EF4-FFF2-40B4-BE49-F238E27FC236}">
                <a16:creationId xmlns:a16="http://schemas.microsoft.com/office/drawing/2014/main" id="{A6515663-8CA3-4EAD-B085-853E130EEEA6}"/>
              </a:ext>
            </a:extLst>
          </p:cNvPr>
          <p:cNvSpPr>
            <a:spLocks noGrp="1"/>
          </p:cNvSpPr>
          <p:nvPr/>
        </p:nvSpPr>
        <p:spPr>
          <a:xfrm>
            <a:off x="990600" y="17907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C2410C"/>
                </a:solidFill>
              </a:defRPr>
            </a:pPr>
            <a:r>
              <a:rPr sz="1950" b="1">
                <a:solidFill>
                  <a:srgbClr val="C2410C"/>
                </a:solidFill>
              </a:rPr>
              <a:t>项目背景</a:t>
            </a:r>
          </a:p>
        </p:txBody>
      </p:sp>
      <p:sp>
        <p:nvSpPr>
          <p:cNvPr id="5" name="s2-left-bullet-1">
            <a:extLst>
              <a:ext uri="{FF2B5EF4-FFF2-40B4-BE49-F238E27FC236}">
                <a16:creationId xmlns:a16="http://schemas.microsoft.com/office/drawing/2014/main" id="{5BA5312A-C8AF-4B04-ABEF-4F864690D96C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学生自习需求集中，座位管理容易混乱</a:t>
            </a:r>
          </a:p>
        </p:txBody>
      </p:sp>
      <p:sp>
        <p:nvSpPr>
          <p:cNvPr id="6" name="s2-left-bullet-2">
            <a:extLst>
              <a:ext uri="{FF2B5EF4-FFF2-40B4-BE49-F238E27FC236}">
                <a16:creationId xmlns:a16="http://schemas.microsoft.com/office/drawing/2014/main" id="{5129591B-2BAB-4242-8DA9-0E3C3194C500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人工登记效率低，重复预约难以及时发现</a:t>
            </a:r>
          </a:p>
        </p:txBody>
      </p:sp>
      <p:sp>
        <p:nvSpPr>
          <p:cNvPr id="7" name="s2-left-bullet-3">
            <a:extLst>
              <a:ext uri="{FF2B5EF4-FFF2-40B4-BE49-F238E27FC236}">
                <a16:creationId xmlns:a16="http://schemas.microsoft.com/office/drawing/2014/main" id="{9F047D40-E7D9-4043-932D-B84AED73D3DA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需要一个清晰、可演示、适合课程作业的预约系统</a:t>
            </a:r>
          </a:p>
        </p:txBody>
      </p:sp>
      <p:sp>
        <p:nvSpPr>
          <p:cNvPr id="8" name="s2-right-panel">
            <a:extLst>
              <a:ext uri="{FF2B5EF4-FFF2-40B4-BE49-F238E27FC236}">
                <a16:creationId xmlns:a16="http://schemas.microsoft.com/office/drawing/2014/main" id="{3D8008A3-E474-428B-98A8-0653849282E3}"/>
              </a:ext>
            </a:extLst>
          </p:cNvPr>
          <p:cNvSpPr>
            <a:spLocks noGrp="1"/>
          </p:cNvSpPr>
          <p:nvPr/>
        </p:nvSpPr>
        <p:spPr>
          <a:xfrm>
            <a:off x="6172200" y="1485900"/>
            <a:ext cx="5334000" cy="4362450"/>
          </a:xfrm>
          <a:prstGeom prst="roundRect">
            <a:avLst>
              <a:gd name="adj" fmla="val 3493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2-right-heading">
            <a:extLst>
              <a:ext uri="{FF2B5EF4-FFF2-40B4-BE49-F238E27FC236}">
                <a16:creationId xmlns:a16="http://schemas.microsoft.com/office/drawing/2014/main" id="{39D3C04D-74A1-4E27-8F63-BE70A888AB8F}"/>
              </a:ext>
            </a:extLst>
          </p:cNvPr>
          <p:cNvSpPr>
            <a:spLocks noGrp="1"/>
          </p:cNvSpPr>
          <p:nvPr/>
        </p:nvSpPr>
        <p:spPr>
          <a:xfrm>
            <a:off x="6477000" y="17907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项目目标</a:t>
            </a:r>
          </a:p>
        </p:txBody>
      </p:sp>
      <p:sp>
        <p:nvSpPr>
          <p:cNvPr id="10" name="s2-right-bullet-1">
            <a:extLst>
              <a:ext uri="{FF2B5EF4-FFF2-40B4-BE49-F238E27FC236}">
                <a16:creationId xmlns:a16="http://schemas.microsoft.com/office/drawing/2014/main" id="{B8F05EF3-5B14-451F-B735-5E5057E7934C}"/>
              </a:ext>
            </a:extLst>
          </p:cNvPr>
          <p:cNvSpPr>
            <a:spLocks noGrp="1"/>
          </p:cNvSpPr>
          <p:nvPr/>
        </p:nvSpPr>
        <p:spPr>
          <a:xfrm>
            <a:off x="6477000" y="22669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实现学生端与管理员端基础业务</a:t>
            </a:r>
          </a:p>
        </p:txBody>
      </p:sp>
      <p:sp>
        <p:nvSpPr>
          <p:cNvPr id="11" name="s2-right-bullet-2">
            <a:extLst>
              <a:ext uri="{FF2B5EF4-FFF2-40B4-BE49-F238E27FC236}">
                <a16:creationId xmlns:a16="http://schemas.microsoft.com/office/drawing/2014/main" id="{FDA84426-D096-4A40-ACD9-C16465D22CD6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通过 User / Student / Admin 体现面向对象设计</a:t>
            </a:r>
          </a:p>
        </p:txBody>
      </p:sp>
      <p:sp>
        <p:nvSpPr>
          <p:cNvPr id="12" name="s2-right-bullet-3">
            <a:extLst>
              <a:ext uri="{FF2B5EF4-FFF2-40B4-BE49-F238E27FC236}">
                <a16:creationId xmlns:a16="http://schemas.microsoft.com/office/drawing/2014/main" id="{A0B5725E-5A8C-46F4-AECD-F955773A116B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使用 vector 管理数据，文件保存预约记录</a:t>
            </a:r>
          </a:p>
        </p:txBody>
      </p:sp>
      <p:sp>
        <p:nvSpPr>
          <p:cNvPr id="13" name="s2-right-bullet-4">
            <a:extLst>
              <a:ext uri="{FF2B5EF4-FFF2-40B4-BE49-F238E27FC236}">
                <a16:creationId xmlns:a16="http://schemas.microsoft.com/office/drawing/2014/main" id="{B8354405-830A-4240-AEB8-0E6EC20B120B}"/>
              </a:ext>
            </a:extLst>
          </p:cNvPr>
          <p:cNvSpPr>
            <a:spLocks noGrp="1"/>
          </p:cNvSpPr>
          <p:nvPr/>
        </p:nvSpPr>
        <p:spPr>
          <a:xfrm>
            <a:off x="6477000" y="34099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确保系统可在 Visual Studio 下稳定运行</a:t>
            </a:r>
          </a:p>
        </p:txBody>
      </p:sp>
      <p:sp>
        <p:nvSpPr>
          <p:cNvPr id="14" name="footer-left-2">
            <a:extLst>
              <a:ext uri="{FF2B5EF4-FFF2-40B4-BE49-F238E27FC236}">
                <a16:creationId xmlns:a16="http://schemas.microsoft.com/office/drawing/2014/main" id="{568ED93B-AF8D-4651-9255-E4D2E34B39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校园自习室预约管理系统 | C++17 控制台课程项目 | Pre 展示</a:t>
            </a:r>
          </a:p>
        </p:txBody>
      </p:sp>
      <p:sp>
        <p:nvSpPr>
          <p:cNvPr id="15" name="footer-right-2">
            <a:extLst>
              <a:ext uri="{FF2B5EF4-FFF2-40B4-BE49-F238E27FC236}">
                <a16:creationId xmlns:a16="http://schemas.microsoft.com/office/drawing/2014/main" id="{80F09715-8FE5-43CC-8EA7-4339FFED7D9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580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3-title">
            <a:extLst>
              <a:ext uri="{FF2B5EF4-FFF2-40B4-BE49-F238E27FC236}">
                <a16:creationId xmlns:a16="http://schemas.microsoft.com/office/drawing/2014/main" id="{E8C62BDF-F1E0-438B-BAA8-92DD8F69AD9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2. 功能概览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AB3DC17-18F1-4CFF-8FD7-0E3BF42B9E6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428750" cy="76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" name="s3-left-panel">
            <a:extLst>
              <a:ext uri="{FF2B5EF4-FFF2-40B4-BE49-F238E27FC236}">
                <a16:creationId xmlns:a16="http://schemas.microsoft.com/office/drawing/2014/main" id="{5088B571-8787-4846-8A51-E120CC5A467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0292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1FA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s3-left-heading">
            <a:extLst>
              <a:ext uri="{FF2B5EF4-FFF2-40B4-BE49-F238E27FC236}">
                <a16:creationId xmlns:a16="http://schemas.microsoft.com/office/drawing/2014/main" id="{0E167B96-E861-481D-B847-65726DDF015D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65F46"/>
                </a:solidFill>
              </a:defRPr>
            </a:pPr>
            <a:r>
              <a:rPr sz="2100" b="1">
                <a:solidFill>
                  <a:srgbClr val="065F46"/>
                </a:solidFill>
              </a:rPr>
              <a:t>学生端功能</a:t>
            </a:r>
          </a:p>
        </p:txBody>
      </p:sp>
      <p:sp>
        <p:nvSpPr>
          <p:cNvPr id="5" name="s3-left-bullet-1">
            <a:extLst>
              <a:ext uri="{FF2B5EF4-FFF2-40B4-BE49-F238E27FC236}">
                <a16:creationId xmlns:a16="http://schemas.microsoft.com/office/drawing/2014/main" id="{139DC3F0-B1E4-4061-9B86-893D126FBB25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学生登录</a:t>
            </a:r>
          </a:p>
        </p:txBody>
      </p:sp>
      <p:sp>
        <p:nvSpPr>
          <p:cNvPr id="6" name="s3-left-bullet-2">
            <a:extLst>
              <a:ext uri="{FF2B5EF4-FFF2-40B4-BE49-F238E27FC236}">
                <a16:creationId xmlns:a16="http://schemas.microsoft.com/office/drawing/2014/main" id="{B5247448-866A-45F5-A921-D73F34C0BDE2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查看自习室列表</a:t>
            </a:r>
          </a:p>
        </p:txBody>
      </p:sp>
      <p:sp>
        <p:nvSpPr>
          <p:cNvPr id="7" name="s3-left-bullet-3">
            <a:extLst>
              <a:ext uri="{FF2B5EF4-FFF2-40B4-BE49-F238E27FC236}">
                <a16:creationId xmlns:a16="http://schemas.microsoft.com/office/drawing/2014/main" id="{78BE1651-555B-48C1-AC83-7DAFF21941EA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按时间段查看座位状态</a:t>
            </a:r>
          </a:p>
        </p:txBody>
      </p:sp>
      <p:sp>
        <p:nvSpPr>
          <p:cNvPr id="8" name="s3-left-bullet-4">
            <a:extLst>
              <a:ext uri="{FF2B5EF4-FFF2-40B4-BE49-F238E27FC236}">
                <a16:creationId xmlns:a16="http://schemas.microsoft.com/office/drawing/2014/main" id="{DFFA6AF5-50DC-4AB5-B86A-61AF2212C678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预约座位并检测冲突</a:t>
            </a:r>
          </a:p>
        </p:txBody>
      </p:sp>
      <p:sp>
        <p:nvSpPr>
          <p:cNvPr id="9" name="s3-left-bullet-5">
            <a:extLst>
              <a:ext uri="{FF2B5EF4-FFF2-40B4-BE49-F238E27FC236}">
                <a16:creationId xmlns:a16="http://schemas.microsoft.com/office/drawing/2014/main" id="{CA6E23FA-4FAF-4D82-8332-5BD61E165C7B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• 查看 / 取消自己的预约</a:t>
            </a:r>
          </a:p>
        </p:txBody>
      </p:sp>
      <p:sp>
        <p:nvSpPr>
          <p:cNvPr id="10" name="s3-right-panel">
            <a:extLst>
              <a:ext uri="{FF2B5EF4-FFF2-40B4-BE49-F238E27FC236}">
                <a16:creationId xmlns:a16="http://schemas.microsoft.com/office/drawing/2014/main" id="{A85F4C95-F984-4E0D-B561-878CC1AB4C5C}"/>
              </a:ext>
            </a:extLst>
          </p:cNvPr>
          <p:cNvSpPr>
            <a:spLocks noGrp="1"/>
          </p:cNvSpPr>
          <p:nvPr/>
        </p:nvSpPr>
        <p:spPr>
          <a:xfrm>
            <a:off x="6477000" y="1466850"/>
            <a:ext cx="50292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s3-right-heading">
            <a:extLst>
              <a:ext uri="{FF2B5EF4-FFF2-40B4-BE49-F238E27FC236}">
                <a16:creationId xmlns:a16="http://schemas.microsoft.com/office/drawing/2014/main" id="{CB85D8AD-5954-446E-82B0-BC88D15D9B7A}"/>
              </a:ext>
            </a:extLst>
          </p:cNvPr>
          <p:cNvSpPr>
            <a:spLocks noGrp="1"/>
          </p:cNvSpPr>
          <p:nvPr/>
        </p:nvSpPr>
        <p:spPr>
          <a:xfrm>
            <a:off x="6781800" y="17716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管理员端功能</a:t>
            </a:r>
          </a:p>
        </p:txBody>
      </p:sp>
      <p:sp>
        <p:nvSpPr>
          <p:cNvPr id="12" name="s3-right-bullet-1">
            <a:extLst>
              <a:ext uri="{FF2B5EF4-FFF2-40B4-BE49-F238E27FC236}">
                <a16:creationId xmlns:a16="http://schemas.microsoft.com/office/drawing/2014/main" id="{12CD693C-4A74-4A35-9182-23CC3A7B4AEC}"/>
              </a:ext>
            </a:extLst>
          </p:cNvPr>
          <p:cNvSpPr>
            <a:spLocks noGrp="1"/>
          </p:cNvSpPr>
          <p:nvPr/>
        </p:nvSpPr>
        <p:spPr>
          <a:xfrm>
            <a:off x="6781800" y="2305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管理员登录</a:t>
            </a:r>
          </a:p>
        </p:txBody>
      </p:sp>
      <p:sp>
        <p:nvSpPr>
          <p:cNvPr id="13" name="s3-right-bullet-2">
            <a:extLst>
              <a:ext uri="{FF2B5EF4-FFF2-40B4-BE49-F238E27FC236}">
                <a16:creationId xmlns:a16="http://schemas.microsoft.com/office/drawing/2014/main" id="{8E274712-580E-42AE-A837-DA447CF2BFD4}"/>
              </a:ext>
            </a:extLst>
          </p:cNvPr>
          <p:cNvSpPr>
            <a:spLocks noGrp="1"/>
          </p:cNvSpPr>
          <p:nvPr/>
        </p:nvSpPr>
        <p:spPr>
          <a:xfrm>
            <a:off x="6781800" y="2724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查看全部预约记录</a:t>
            </a:r>
          </a:p>
        </p:txBody>
      </p:sp>
      <p:sp>
        <p:nvSpPr>
          <p:cNvPr id="14" name="s3-right-bullet-3">
            <a:extLst>
              <a:ext uri="{FF2B5EF4-FFF2-40B4-BE49-F238E27FC236}">
                <a16:creationId xmlns:a16="http://schemas.microsoft.com/office/drawing/2014/main" id="{9F5E606F-C885-4C9E-ADA5-638CA82C53F1}"/>
              </a:ext>
            </a:extLst>
          </p:cNvPr>
          <p:cNvSpPr>
            <a:spLocks noGrp="1"/>
          </p:cNvSpPr>
          <p:nvPr/>
        </p:nvSpPr>
        <p:spPr>
          <a:xfrm>
            <a:off x="6781800" y="31432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统计各自习室预约数量与使用率</a:t>
            </a:r>
          </a:p>
        </p:txBody>
      </p:sp>
      <p:sp>
        <p:nvSpPr>
          <p:cNvPr id="15" name="s3-right-bullet-4">
            <a:extLst>
              <a:ext uri="{FF2B5EF4-FFF2-40B4-BE49-F238E27FC236}">
                <a16:creationId xmlns:a16="http://schemas.microsoft.com/office/drawing/2014/main" id="{9C6FE186-B13D-4A3C-A406-E021D3AAF3F7}"/>
              </a:ext>
            </a:extLst>
          </p:cNvPr>
          <p:cNvSpPr>
            <a:spLocks noGrp="1"/>
          </p:cNvSpPr>
          <p:nvPr/>
        </p:nvSpPr>
        <p:spPr>
          <a:xfrm>
            <a:off x="6781800" y="35623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通过 data 文件完成基础数据加载与保存</a:t>
            </a:r>
          </a:p>
        </p:txBody>
      </p:sp>
      <p:sp>
        <p:nvSpPr>
          <p:cNvPr id="16" name="s3-bottom-band">
            <a:extLst>
              <a:ext uri="{FF2B5EF4-FFF2-40B4-BE49-F238E27FC236}">
                <a16:creationId xmlns:a16="http://schemas.microsoft.com/office/drawing/2014/main" id="{F38F06C0-8F88-4259-AB3C-B7002F3C5B20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876300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s3-bottom-text">
            <a:extLst>
              <a:ext uri="{FF2B5EF4-FFF2-40B4-BE49-F238E27FC236}">
                <a16:creationId xmlns:a16="http://schemas.microsoft.com/office/drawing/2014/main" id="{4B5129BF-7E42-4F35-9BB9-23621471C455}"/>
              </a:ext>
            </a:extLst>
          </p:cNvPr>
          <p:cNvSpPr>
            <a:spLocks noGrp="1"/>
          </p:cNvSpPr>
          <p:nvPr/>
        </p:nvSpPr>
        <p:spPr>
          <a:xfrm>
            <a:off x="1028700" y="54292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核心业务规则：同一自习室 + 同一座位号 + 同一时间段 不能被重复预约。</a:t>
            </a:r>
          </a:p>
        </p:txBody>
      </p:sp>
      <p:sp>
        <p:nvSpPr>
          <p:cNvPr id="18" name="footer-left-3">
            <a:extLst>
              <a:ext uri="{FF2B5EF4-FFF2-40B4-BE49-F238E27FC236}">
                <a16:creationId xmlns:a16="http://schemas.microsoft.com/office/drawing/2014/main" id="{9EB9AF4F-C2FF-4465-8589-BF20EF99841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校园自习室预约管理系统 | C++17 控制台课程项目 | Pre 展示</a:t>
            </a:r>
          </a:p>
        </p:txBody>
      </p:sp>
      <p:sp>
        <p:nvSpPr>
          <p:cNvPr id="19" name="footer-right-3">
            <a:extLst>
              <a:ext uri="{FF2B5EF4-FFF2-40B4-BE49-F238E27FC236}">
                <a16:creationId xmlns:a16="http://schemas.microsoft.com/office/drawing/2014/main" id="{5F8DD38E-A3F9-44B9-8728-45B8AE8CBEB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2257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4-title">
            <a:extLst>
              <a:ext uri="{FF2B5EF4-FFF2-40B4-BE49-F238E27FC236}">
                <a16:creationId xmlns:a16="http://schemas.microsoft.com/office/drawing/2014/main" id="{0762C456-2EF9-4B13-9DBD-B02EC02CF06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3. 系统设计与 C++ 技术点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CE7C7B5-7936-406E-B15B-FB26138226A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3" name="s4-left-panel">
            <a:extLst>
              <a:ext uri="{FF2B5EF4-FFF2-40B4-BE49-F238E27FC236}">
                <a16:creationId xmlns:a16="http://schemas.microsoft.com/office/drawing/2014/main" id="{19F80B44-B454-455F-9FF1-132BE2B9FD4E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3238500" cy="39243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s4-left-heading">
            <a:extLst>
              <a:ext uri="{FF2B5EF4-FFF2-40B4-BE49-F238E27FC236}">
                <a16:creationId xmlns:a16="http://schemas.microsoft.com/office/drawing/2014/main" id="{3FD3E752-3836-4338-9E02-58B1903FC688}"/>
              </a:ext>
            </a:extLst>
          </p:cNvPr>
          <p:cNvSpPr>
            <a:spLocks noGrp="1"/>
          </p:cNvSpPr>
          <p:nvPr/>
        </p:nvSpPr>
        <p:spPr>
          <a:xfrm>
            <a:off x="971550" y="1790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C2410C"/>
                </a:solidFill>
              </a:defRPr>
            </a:pPr>
            <a:r>
              <a:rPr sz="1950" b="1">
                <a:solidFill>
                  <a:srgbClr val="C2410C"/>
                </a:solidFill>
              </a:rPr>
              <a:t>用户层次结构</a:t>
            </a:r>
          </a:p>
        </p:txBody>
      </p:sp>
      <p:sp>
        <p:nvSpPr>
          <p:cNvPr id="5" name="user-box">
            <a:extLst>
              <a:ext uri="{FF2B5EF4-FFF2-40B4-BE49-F238E27FC236}">
                <a16:creationId xmlns:a16="http://schemas.microsoft.com/office/drawing/2014/main" id="{A09B4180-7932-4C9C-8CE3-F82E0B8AD382}"/>
              </a:ext>
            </a:extLst>
          </p:cNvPr>
          <p:cNvSpPr>
            <a:spLocks noGrp="1"/>
          </p:cNvSpPr>
          <p:nvPr/>
        </p:nvSpPr>
        <p:spPr>
          <a:xfrm>
            <a:off x="1143000" y="2247900"/>
            <a:ext cx="2324100" cy="590550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user-box-text">
            <a:extLst>
              <a:ext uri="{FF2B5EF4-FFF2-40B4-BE49-F238E27FC236}">
                <a16:creationId xmlns:a16="http://schemas.microsoft.com/office/drawing/2014/main" id="{FF3CAE09-DF3E-4C52-9AC3-99F3AFD0C99F}"/>
              </a:ext>
            </a:extLst>
          </p:cNvPr>
          <p:cNvSpPr>
            <a:spLocks noGrp="1"/>
          </p:cNvSpPr>
          <p:nvPr/>
        </p:nvSpPr>
        <p:spPr>
          <a:xfrm>
            <a:off x="1466850" y="2438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User 抽象基类</a:t>
            </a:r>
          </a:p>
        </p:txBody>
      </p:sp>
      <p:sp>
        <p:nvSpPr>
          <p:cNvPr id="7" name="student-box">
            <a:extLst>
              <a:ext uri="{FF2B5EF4-FFF2-40B4-BE49-F238E27FC236}">
                <a16:creationId xmlns:a16="http://schemas.microsoft.com/office/drawing/2014/main" id="{F7A034DC-1DB0-48F7-8017-B3E80A5970C9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1314450" cy="66675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admin-box">
            <a:extLst>
              <a:ext uri="{FF2B5EF4-FFF2-40B4-BE49-F238E27FC236}">
                <a16:creationId xmlns:a16="http://schemas.microsoft.com/office/drawing/2014/main" id="{0D4672CD-80A8-4979-B46E-C389B63E949A}"/>
              </a:ext>
            </a:extLst>
          </p:cNvPr>
          <p:cNvSpPr>
            <a:spLocks noGrp="1"/>
          </p:cNvSpPr>
          <p:nvPr/>
        </p:nvSpPr>
        <p:spPr>
          <a:xfrm>
            <a:off x="2362200" y="3200400"/>
            <a:ext cx="1314450" cy="66675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tudent-box-text">
            <a:extLst>
              <a:ext uri="{FF2B5EF4-FFF2-40B4-BE49-F238E27FC236}">
                <a16:creationId xmlns:a16="http://schemas.microsoft.com/office/drawing/2014/main" id="{87BD2A87-7EBD-4A98-B81B-3AE6E39079A4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66534"/>
                </a:solidFill>
              </a:defRPr>
            </a:pPr>
            <a:r>
              <a:rPr sz="1350" b="1">
                <a:solidFill>
                  <a:srgbClr val="166534"/>
                </a:solidFill>
              </a:rPr>
              <a:t>Student</a:t>
            </a:r>
          </a:p>
        </p:txBody>
      </p:sp>
      <p:sp>
        <p:nvSpPr>
          <p:cNvPr id="10" name="admin-box-text">
            <a:extLst>
              <a:ext uri="{FF2B5EF4-FFF2-40B4-BE49-F238E27FC236}">
                <a16:creationId xmlns:a16="http://schemas.microsoft.com/office/drawing/2014/main" id="{95E0A25C-BACC-44D6-A31F-C0FF80C6AD3C}"/>
              </a:ext>
            </a:extLst>
          </p:cNvPr>
          <p:cNvSpPr>
            <a:spLocks noGrp="1"/>
          </p:cNvSpPr>
          <p:nvPr/>
        </p:nvSpPr>
        <p:spPr>
          <a:xfrm>
            <a:off x="2552700" y="34290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Admin</a:t>
            </a:r>
          </a:p>
        </p:txBody>
      </p:sp>
      <p:sp>
        <p:nvSpPr>
          <p:cNvPr id="11" name="s4-left-note">
            <a:extLst>
              <a:ext uri="{FF2B5EF4-FFF2-40B4-BE49-F238E27FC236}">
                <a16:creationId xmlns:a16="http://schemas.microsoft.com/office/drawing/2014/main" id="{0081545B-F901-4183-B4AD-50D931678046}"/>
              </a:ext>
            </a:extLst>
          </p:cNvPr>
          <p:cNvSpPr>
            <a:spLocks noGrp="1"/>
          </p:cNvSpPr>
          <p:nvPr/>
        </p:nvSpPr>
        <p:spPr>
          <a:xfrm>
            <a:off x="971550" y="419100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继承与多态：</a:t>
            </a:r>
          </a:p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- showMenu() 体现不同身份菜单</a:t>
            </a:r>
          </a:p>
          <a:p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- checkPassword() 封装密码校验</a:t>
            </a:r>
          </a:p>
        </p:txBody>
      </p:sp>
      <p:sp>
        <p:nvSpPr>
          <p:cNvPr id="12" name="s4-mid-panel">
            <a:extLst>
              <a:ext uri="{FF2B5EF4-FFF2-40B4-BE49-F238E27FC236}">
                <a16:creationId xmlns:a16="http://schemas.microsoft.com/office/drawing/2014/main" id="{FC17B1B4-7B57-49C7-9605-F7B841A05F9C}"/>
              </a:ext>
            </a:extLst>
          </p:cNvPr>
          <p:cNvSpPr>
            <a:spLocks noGrp="1"/>
          </p:cNvSpPr>
          <p:nvPr/>
        </p:nvSpPr>
        <p:spPr>
          <a:xfrm>
            <a:off x="4267200" y="1543050"/>
            <a:ext cx="3429000" cy="39243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s4-mid-heading">
            <a:extLst>
              <a:ext uri="{FF2B5EF4-FFF2-40B4-BE49-F238E27FC236}">
                <a16:creationId xmlns:a16="http://schemas.microsoft.com/office/drawing/2014/main" id="{388BC56C-DEFD-4845-B79F-2F88CCE4035D}"/>
              </a:ext>
            </a:extLst>
          </p:cNvPr>
          <p:cNvSpPr>
            <a:spLocks noGrp="1"/>
          </p:cNvSpPr>
          <p:nvPr/>
        </p:nvSpPr>
        <p:spPr>
          <a:xfrm>
            <a:off x="4552950" y="1790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核心业务类</a:t>
            </a:r>
          </a:p>
        </p:txBody>
      </p:sp>
      <p:sp>
        <p:nvSpPr>
          <p:cNvPr id="14" name="s4-mid-summary">
            <a:extLst>
              <a:ext uri="{FF2B5EF4-FFF2-40B4-BE49-F238E27FC236}">
                <a16:creationId xmlns:a16="http://schemas.microsoft.com/office/drawing/2014/main" id="{8EBBD0D5-5CCC-476E-B55F-641453435EDF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7241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• StudyRoom：房间与座位状态</a:t>
            </a:r>
          </a:p>
          <a:p>
            <a:endParaRPr sz="1350">
              <a:solidFill>
                <a:srgbClr val="334155"/>
              </a:solidFill>
            </a:endParaRPr>
          </a:p>
          <a:p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• Seat：单个座位对象</a:t>
            </a:r>
          </a:p>
          <a:p>
            <a:endParaRPr sz="1350">
              <a:solidFill>
                <a:srgbClr val="334155"/>
              </a:solidFill>
            </a:endParaRPr>
          </a:p>
          <a:p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• Reservation：记录预约并判定冲突</a:t>
            </a:r>
          </a:p>
          <a:p>
            <a:endParaRPr sz="1350">
              <a:solidFill>
                <a:srgbClr val="334155"/>
              </a:solidFill>
            </a:endParaRPr>
          </a:p>
          <a:p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• SystemManager：统一调度登录、预约、统计</a:t>
            </a:r>
          </a:p>
        </p:txBody>
      </p:sp>
      <p:sp>
        <p:nvSpPr>
          <p:cNvPr id="15" name="s4-right-panel">
            <a:extLst>
              <a:ext uri="{FF2B5EF4-FFF2-40B4-BE49-F238E27FC236}">
                <a16:creationId xmlns:a16="http://schemas.microsoft.com/office/drawing/2014/main" id="{C869E2B5-165B-4C48-8211-A3633CC0D6C7}"/>
              </a:ext>
            </a:extLst>
          </p:cNvPr>
          <p:cNvSpPr>
            <a:spLocks noGrp="1"/>
          </p:cNvSpPr>
          <p:nvPr/>
        </p:nvSpPr>
        <p:spPr>
          <a:xfrm>
            <a:off x="8039100" y="1543050"/>
            <a:ext cx="3467100" cy="3924300"/>
          </a:xfrm>
          <a:prstGeom prst="roundRect">
            <a:avLst>
              <a:gd name="adj" fmla="val 4396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4-right-heading">
            <a:extLst>
              <a:ext uri="{FF2B5EF4-FFF2-40B4-BE49-F238E27FC236}">
                <a16:creationId xmlns:a16="http://schemas.microsoft.com/office/drawing/2014/main" id="{DD720982-9558-4DD1-9DA5-30DE9739D586}"/>
              </a:ext>
            </a:extLst>
          </p:cNvPr>
          <p:cNvSpPr>
            <a:spLocks noGrp="1"/>
          </p:cNvSpPr>
          <p:nvPr/>
        </p:nvSpPr>
        <p:spPr>
          <a:xfrm>
            <a:off x="8324850" y="17907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技术要点</a:t>
            </a:r>
          </a:p>
        </p:txBody>
      </p:sp>
      <p:sp>
        <p:nvSpPr>
          <p:cNvPr id="17" name="s4-right-bullet-1">
            <a:extLst>
              <a:ext uri="{FF2B5EF4-FFF2-40B4-BE49-F238E27FC236}">
                <a16:creationId xmlns:a16="http://schemas.microsoft.com/office/drawing/2014/main" id="{3D4DFC8C-9FC7-48CB-AD5B-54A61869E6EF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• 封装：成员变量与接口分离</a:t>
            </a:r>
          </a:p>
        </p:txBody>
      </p:sp>
      <p:sp>
        <p:nvSpPr>
          <p:cNvPr id="18" name="s4-right-bullet-2">
            <a:extLst>
              <a:ext uri="{FF2B5EF4-FFF2-40B4-BE49-F238E27FC236}">
                <a16:creationId xmlns:a16="http://schemas.microsoft.com/office/drawing/2014/main" id="{2BF20DD7-963D-40EC-8E85-F3D91B64A3B1}"/>
              </a:ext>
            </a:extLst>
          </p:cNvPr>
          <p:cNvSpPr>
            <a:spLocks noGrp="1"/>
          </p:cNvSpPr>
          <p:nvPr/>
        </p:nvSpPr>
        <p:spPr>
          <a:xfrm>
            <a:off x="8324850" y="2743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• STL：vector 存放学生、房间、预约数据</a:t>
            </a:r>
          </a:p>
        </p:txBody>
      </p:sp>
      <p:sp>
        <p:nvSpPr>
          <p:cNvPr id="19" name="s4-right-bullet-3">
            <a:extLst>
              <a:ext uri="{FF2B5EF4-FFF2-40B4-BE49-F238E27FC236}">
                <a16:creationId xmlns:a16="http://schemas.microsoft.com/office/drawing/2014/main" id="{0AE070D1-3469-4B9A-B993-CA2F75443FB4}"/>
              </a:ext>
            </a:extLst>
          </p:cNvPr>
          <p:cNvSpPr>
            <a:spLocks noGrp="1"/>
          </p:cNvSpPr>
          <p:nvPr/>
        </p:nvSpPr>
        <p:spPr>
          <a:xfrm>
            <a:off x="8324850" y="31813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• 运算符重载：operator== 用于预约冲突判断</a:t>
            </a:r>
          </a:p>
        </p:txBody>
      </p:sp>
      <p:sp>
        <p:nvSpPr>
          <p:cNvPr id="20" name="s4-right-bullet-4">
            <a:extLst>
              <a:ext uri="{FF2B5EF4-FFF2-40B4-BE49-F238E27FC236}">
                <a16:creationId xmlns:a16="http://schemas.microsoft.com/office/drawing/2014/main" id="{23ECD858-F069-4EB9-BFA0-62BDACF2F4B9}"/>
              </a:ext>
            </a:extLst>
          </p:cNvPr>
          <p:cNvSpPr>
            <a:spLocks noGrp="1"/>
          </p:cNvSpPr>
          <p:nvPr/>
        </p:nvSpPr>
        <p:spPr>
          <a:xfrm>
            <a:off x="8324850" y="36195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• 文件读写：load*() / save*() 完成持久化</a:t>
            </a:r>
          </a:p>
        </p:txBody>
      </p:sp>
      <p:sp>
        <p:nvSpPr>
          <p:cNvPr id="21" name="s4-right-bullet-5">
            <a:extLst>
              <a:ext uri="{FF2B5EF4-FFF2-40B4-BE49-F238E27FC236}">
                <a16:creationId xmlns:a16="http://schemas.microsoft.com/office/drawing/2014/main" id="{A8B86D56-1AA0-4797-BD96-C6CB92E28A16}"/>
              </a:ext>
            </a:extLst>
          </p:cNvPr>
          <p:cNvSpPr>
            <a:spLocks noGrp="1"/>
          </p:cNvSpPr>
          <p:nvPr/>
        </p:nvSpPr>
        <p:spPr>
          <a:xfrm>
            <a:off x="8324850" y="4057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E2E8F0"/>
                </a:solidFill>
              </a:defRPr>
            </a:pPr>
            <a:r>
              <a:rPr sz="1425">
                <a:solidFill>
                  <a:srgbClr val="E2E8F0"/>
                </a:solidFill>
              </a:rPr>
              <a:t>• 模块分工后再统一联调整合</a:t>
            </a:r>
          </a:p>
        </p:txBody>
      </p:sp>
      <p:sp>
        <p:nvSpPr>
          <p:cNvPr id="22" name="footer-left-4">
            <a:extLst>
              <a:ext uri="{FF2B5EF4-FFF2-40B4-BE49-F238E27FC236}">
                <a16:creationId xmlns:a16="http://schemas.microsoft.com/office/drawing/2014/main" id="{889F1EFB-2B4C-4D99-943B-45A01ED4B1E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校园自习室预约管理系统 | C++17 控制台课程项目 | Pre 展示</a:t>
            </a:r>
          </a:p>
        </p:txBody>
      </p:sp>
      <p:sp>
        <p:nvSpPr>
          <p:cNvPr id="23" name="footer-right-4">
            <a:extLst>
              <a:ext uri="{FF2B5EF4-FFF2-40B4-BE49-F238E27FC236}">
                <a16:creationId xmlns:a16="http://schemas.microsoft.com/office/drawing/2014/main" id="{AC7CD839-5BC3-429D-A0EA-05125AC1429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649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5-title">
            <a:extLst>
              <a:ext uri="{FF2B5EF4-FFF2-40B4-BE49-F238E27FC236}">
                <a16:creationId xmlns:a16="http://schemas.microsoft.com/office/drawing/2014/main" id="{71D1098F-1DCA-4904-8572-23132641DED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4. 系统演示流程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82E9E9F-DF40-411A-AE17-E83DA4FE0AF8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9050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" name="step-01">
            <a:extLst>
              <a:ext uri="{FF2B5EF4-FFF2-40B4-BE49-F238E27FC236}">
                <a16:creationId xmlns:a16="http://schemas.microsoft.com/office/drawing/2014/main" id="{2DDCA527-0E58-4595-AA34-6BBAD1A033F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step-num-01">
            <a:extLst>
              <a:ext uri="{FF2B5EF4-FFF2-40B4-BE49-F238E27FC236}">
                <a16:creationId xmlns:a16="http://schemas.microsoft.com/office/drawing/2014/main" id="{67DCF146-F2C7-45AC-9B48-7DACED800034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step-title-01">
            <a:extLst>
              <a:ext uri="{FF2B5EF4-FFF2-40B4-BE49-F238E27FC236}">
                <a16:creationId xmlns:a16="http://schemas.microsoft.com/office/drawing/2014/main" id="{C6D41A53-14F2-4C2B-BC06-2BBDE208CAC4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学生登录</a:t>
            </a:r>
          </a:p>
        </p:txBody>
      </p:sp>
      <p:sp>
        <p:nvSpPr>
          <p:cNvPr id="6" name="step-sub-01">
            <a:extLst>
              <a:ext uri="{FF2B5EF4-FFF2-40B4-BE49-F238E27FC236}">
                <a16:creationId xmlns:a16="http://schemas.microsoft.com/office/drawing/2014/main" id="{26BC8890-3143-43F7-BF70-3F49399EB6B4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使用 stu001 / 123456 进入学生菜单</a:t>
            </a:r>
          </a:p>
        </p:txBody>
      </p:sp>
      <p:sp>
        <p:nvSpPr>
          <p:cNvPr id="7" name="step-02">
            <a:extLst>
              <a:ext uri="{FF2B5EF4-FFF2-40B4-BE49-F238E27FC236}">
                <a16:creationId xmlns:a16="http://schemas.microsoft.com/office/drawing/2014/main" id="{42A35964-CB86-4331-B778-E75C955D25B7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step-num-02">
            <a:extLst>
              <a:ext uri="{FF2B5EF4-FFF2-40B4-BE49-F238E27FC236}">
                <a16:creationId xmlns:a16="http://schemas.microsoft.com/office/drawing/2014/main" id="{0A45937F-A438-4223-837A-A35EAE970F74}"/>
              </a:ext>
            </a:extLst>
          </p:cNvPr>
          <p:cNvSpPr>
            <a:spLocks noGrp="1"/>
          </p:cNvSpPr>
          <p:nvPr/>
        </p:nvSpPr>
        <p:spPr>
          <a:xfrm>
            <a:off x="4648200" y="17716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step-title-02">
            <a:extLst>
              <a:ext uri="{FF2B5EF4-FFF2-40B4-BE49-F238E27FC236}">
                <a16:creationId xmlns:a16="http://schemas.microsoft.com/office/drawing/2014/main" id="{3E093388-A5EE-4F57-9D7B-34B8AA53D459}"/>
              </a:ext>
            </a:extLst>
          </p:cNvPr>
          <p:cNvSpPr>
            <a:spLocks noGrp="1"/>
          </p:cNvSpPr>
          <p:nvPr/>
        </p:nvSpPr>
        <p:spPr>
          <a:xfrm>
            <a:off x="4648200" y="2133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查看座位</a:t>
            </a:r>
          </a:p>
        </p:txBody>
      </p:sp>
      <p:sp>
        <p:nvSpPr>
          <p:cNvPr id="10" name="step-sub-02">
            <a:extLst>
              <a:ext uri="{FF2B5EF4-FFF2-40B4-BE49-F238E27FC236}">
                <a16:creationId xmlns:a16="http://schemas.microsoft.com/office/drawing/2014/main" id="{EC434218-FE70-4276-BC13-4E105E32822E}"/>
              </a:ext>
            </a:extLst>
          </p:cNvPr>
          <p:cNvSpPr>
            <a:spLocks noGrp="1"/>
          </p:cNvSpPr>
          <p:nvPr/>
        </p:nvSpPr>
        <p:spPr>
          <a:xfrm>
            <a:off x="4648200" y="2514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查询 A101 在 19:00-21:00 的座位状态</a:t>
            </a:r>
          </a:p>
        </p:txBody>
      </p:sp>
      <p:sp>
        <p:nvSpPr>
          <p:cNvPr id="11" name="step-03">
            <a:extLst>
              <a:ext uri="{FF2B5EF4-FFF2-40B4-BE49-F238E27FC236}">
                <a16:creationId xmlns:a16="http://schemas.microsoft.com/office/drawing/2014/main" id="{44B1AE17-E89D-46D7-A851-968F120AD9E7}"/>
              </a:ext>
            </a:extLst>
          </p:cNvPr>
          <p:cNvSpPr>
            <a:spLocks noGrp="1"/>
          </p:cNvSpPr>
          <p:nvPr/>
        </p:nvSpPr>
        <p:spPr>
          <a:xfrm>
            <a:off x="8267700" y="161925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tep-num-03">
            <a:extLst>
              <a:ext uri="{FF2B5EF4-FFF2-40B4-BE49-F238E27FC236}">
                <a16:creationId xmlns:a16="http://schemas.microsoft.com/office/drawing/2014/main" id="{158C550A-CC8E-47CB-BC02-4998FE172482}"/>
              </a:ext>
            </a:extLst>
          </p:cNvPr>
          <p:cNvSpPr>
            <a:spLocks noGrp="1"/>
          </p:cNvSpPr>
          <p:nvPr/>
        </p:nvSpPr>
        <p:spPr>
          <a:xfrm>
            <a:off x="8439150" y="17716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step-title-03">
            <a:extLst>
              <a:ext uri="{FF2B5EF4-FFF2-40B4-BE49-F238E27FC236}">
                <a16:creationId xmlns:a16="http://schemas.microsoft.com/office/drawing/2014/main" id="{412BE126-DB7B-416E-B34D-77D63CC0A8F2}"/>
              </a:ext>
            </a:extLst>
          </p:cNvPr>
          <p:cNvSpPr>
            <a:spLocks noGrp="1"/>
          </p:cNvSpPr>
          <p:nvPr/>
        </p:nvSpPr>
        <p:spPr>
          <a:xfrm>
            <a:off x="8439150" y="2133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重复预约检测</a:t>
            </a:r>
          </a:p>
        </p:txBody>
      </p:sp>
      <p:sp>
        <p:nvSpPr>
          <p:cNvPr id="14" name="step-sub-03">
            <a:extLst>
              <a:ext uri="{FF2B5EF4-FFF2-40B4-BE49-F238E27FC236}">
                <a16:creationId xmlns:a16="http://schemas.microsoft.com/office/drawing/2014/main" id="{B9789AC0-4B49-41DC-82C9-6ADE8027BE99}"/>
              </a:ext>
            </a:extLst>
          </p:cNvPr>
          <p:cNvSpPr>
            <a:spLocks noGrp="1"/>
          </p:cNvSpPr>
          <p:nvPr/>
        </p:nvSpPr>
        <p:spPr>
          <a:xfrm>
            <a:off x="8439150" y="251460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尝试预约 A101 的 3 号座位，系统提示冲突</a:t>
            </a:r>
          </a:p>
        </p:txBody>
      </p:sp>
      <p:sp>
        <p:nvSpPr>
          <p:cNvPr id="15" name="step-04">
            <a:extLst>
              <a:ext uri="{FF2B5EF4-FFF2-40B4-BE49-F238E27FC236}">
                <a16:creationId xmlns:a16="http://schemas.microsoft.com/office/drawing/2014/main" id="{E7D0BAEA-128B-416A-BF72-2433C747E721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tep-num-04">
            <a:extLst>
              <a:ext uri="{FF2B5EF4-FFF2-40B4-BE49-F238E27FC236}">
                <a16:creationId xmlns:a16="http://schemas.microsoft.com/office/drawing/2014/main" id="{69E89939-4706-403D-ACD8-5A555E979974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step-title-04">
            <a:extLst>
              <a:ext uri="{FF2B5EF4-FFF2-40B4-BE49-F238E27FC236}">
                <a16:creationId xmlns:a16="http://schemas.microsoft.com/office/drawing/2014/main" id="{52D87F10-62F7-45B4-AADF-BD12512EE403}"/>
              </a:ext>
            </a:extLst>
          </p:cNvPr>
          <p:cNvSpPr>
            <a:spLocks noGrp="1"/>
          </p:cNvSpPr>
          <p:nvPr/>
        </p:nvSpPr>
        <p:spPr>
          <a:xfrm>
            <a:off x="857250" y="39814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新预约成功</a:t>
            </a:r>
          </a:p>
        </p:txBody>
      </p:sp>
      <p:sp>
        <p:nvSpPr>
          <p:cNvPr id="18" name="step-sub-04">
            <a:extLst>
              <a:ext uri="{FF2B5EF4-FFF2-40B4-BE49-F238E27FC236}">
                <a16:creationId xmlns:a16="http://schemas.microsoft.com/office/drawing/2014/main" id="{D4F0BA37-5335-4DA7-B38C-F26716EFBDB7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改为预约 A101 的 4 号座位，写回 reservations.txt</a:t>
            </a:r>
          </a:p>
        </p:txBody>
      </p:sp>
      <p:sp>
        <p:nvSpPr>
          <p:cNvPr id="19" name="step-05">
            <a:extLst>
              <a:ext uri="{FF2B5EF4-FFF2-40B4-BE49-F238E27FC236}">
                <a16:creationId xmlns:a16="http://schemas.microsoft.com/office/drawing/2014/main" id="{F5911D8E-2A8A-4E01-88FF-9F144A9BC774}"/>
              </a:ext>
            </a:extLst>
          </p:cNvPr>
          <p:cNvSpPr>
            <a:spLocks noGrp="1"/>
          </p:cNvSpPr>
          <p:nvPr/>
        </p:nvSpPr>
        <p:spPr>
          <a:xfrm>
            <a:off x="4476750" y="346710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0EA5E9"/>
          </a:solidFill>
          <a:ln w="9525">
            <a:solidFill>
              <a:srgbClr val="0EA5E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step-num-05">
            <a:extLst>
              <a:ext uri="{FF2B5EF4-FFF2-40B4-BE49-F238E27FC236}">
                <a16:creationId xmlns:a16="http://schemas.microsoft.com/office/drawing/2014/main" id="{26C8E3C4-C9B6-46C4-B4BE-B4070C244807}"/>
              </a:ext>
            </a:extLst>
          </p:cNvPr>
          <p:cNvSpPr>
            <a:spLocks noGrp="1"/>
          </p:cNvSpPr>
          <p:nvPr/>
        </p:nvSpPr>
        <p:spPr>
          <a:xfrm>
            <a:off x="4648200" y="3619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step-title-05">
            <a:extLst>
              <a:ext uri="{FF2B5EF4-FFF2-40B4-BE49-F238E27FC236}">
                <a16:creationId xmlns:a16="http://schemas.microsoft.com/office/drawing/2014/main" id="{28A0BF69-136E-4C41-87F4-B57580E84E68}"/>
              </a:ext>
            </a:extLst>
          </p:cNvPr>
          <p:cNvSpPr>
            <a:spLocks noGrp="1"/>
          </p:cNvSpPr>
          <p:nvPr/>
        </p:nvSpPr>
        <p:spPr>
          <a:xfrm>
            <a:off x="4648200" y="39814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查看 / 取消预约</a:t>
            </a:r>
          </a:p>
        </p:txBody>
      </p:sp>
      <p:sp>
        <p:nvSpPr>
          <p:cNvPr id="22" name="step-sub-05">
            <a:extLst>
              <a:ext uri="{FF2B5EF4-FFF2-40B4-BE49-F238E27FC236}">
                <a16:creationId xmlns:a16="http://schemas.microsoft.com/office/drawing/2014/main" id="{2BB6D3C4-D3D1-478C-99B7-1079834E588E}"/>
              </a:ext>
            </a:extLst>
          </p:cNvPr>
          <p:cNvSpPr>
            <a:spLocks noGrp="1"/>
          </p:cNvSpPr>
          <p:nvPr/>
        </p:nvSpPr>
        <p:spPr>
          <a:xfrm>
            <a:off x="4648200" y="4362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展示我的预约列表，并取消刚新增的记录</a:t>
            </a:r>
          </a:p>
        </p:txBody>
      </p:sp>
      <p:sp>
        <p:nvSpPr>
          <p:cNvPr id="23" name="step-06">
            <a:extLst>
              <a:ext uri="{FF2B5EF4-FFF2-40B4-BE49-F238E27FC236}">
                <a16:creationId xmlns:a16="http://schemas.microsoft.com/office/drawing/2014/main" id="{068AF47B-FCD9-4714-9A38-FB6B8A7DBE31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3238500" cy="1447800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tep-num-06">
            <a:extLst>
              <a:ext uri="{FF2B5EF4-FFF2-40B4-BE49-F238E27FC236}">
                <a16:creationId xmlns:a16="http://schemas.microsoft.com/office/drawing/2014/main" id="{3A60E6A4-C147-4B0B-865C-F9C0D60119FB}"/>
              </a:ext>
            </a:extLst>
          </p:cNvPr>
          <p:cNvSpPr>
            <a:spLocks noGrp="1"/>
          </p:cNvSpPr>
          <p:nvPr/>
        </p:nvSpPr>
        <p:spPr>
          <a:xfrm>
            <a:off x="8439150" y="3619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step-title-06">
            <a:extLst>
              <a:ext uri="{FF2B5EF4-FFF2-40B4-BE49-F238E27FC236}">
                <a16:creationId xmlns:a16="http://schemas.microsoft.com/office/drawing/2014/main" id="{202D5D65-03AE-4604-ABD0-F91FFFFA71B8}"/>
              </a:ext>
            </a:extLst>
          </p:cNvPr>
          <p:cNvSpPr>
            <a:spLocks noGrp="1"/>
          </p:cNvSpPr>
          <p:nvPr/>
        </p:nvSpPr>
        <p:spPr>
          <a:xfrm>
            <a:off x="8439150" y="39814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管理员统计</a:t>
            </a:r>
          </a:p>
        </p:txBody>
      </p:sp>
      <p:sp>
        <p:nvSpPr>
          <p:cNvPr id="26" name="step-sub-06">
            <a:extLst>
              <a:ext uri="{FF2B5EF4-FFF2-40B4-BE49-F238E27FC236}">
                <a16:creationId xmlns:a16="http://schemas.microsoft.com/office/drawing/2014/main" id="{C34A68C1-ACBC-4D18-8F55-755C50187514}"/>
              </a:ext>
            </a:extLst>
          </p:cNvPr>
          <p:cNvSpPr>
            <a:spLocks noGrp="1"/>
          </p:cNvSpPr>
          <p:nvPr/>
        </p:nvSpPr>
        <p:spPr>
          <a:xfrm>
            <a:off x="8439150" y="4362450"/>
            <a:ext cx="2895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sz="1200">
                <a:solidFill>
                  <a:srgbClr val="E2E8F0"/>
                </a:solidFill>
              </a:rPr>
              <a:t>管理员查看全部预约与各自习室使用率</a:t>
            </a:r>
          </a:p>
        </p:txBody>
      </p:sp>
      <p:sp>
        <p:nvSpPr>
          <p:cNvPr id="29" name="footer-left-5">
            <a:extLst>
              <a:ext uri="{FF2B5EF4-FFF2-40B4-BE49-F238E27FC236}">
                <a16:creationId xmlns:a16="http://schemas.microsoft.com/office/drawing/2014/main" id="{8CFC2D91-4848-4D46-800B-8B0F500BCCC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校园自习室预约管理系统 | C++17 控制台课程项目 | Pre 展示</a:t>
            </a:r>
          </a:p>
        </p:txBody>
      </p:sp>
      <p:sp>
        <p:nvSpPr>
          <p:cNvPr id="30" name="footer-right-5">
            <a:extLst>
              <a:ext uri="{FF2B5EF4-FFF2-40B4-BE49-F238E27FC236}">
                <a16:creationId xmlns:a16="http://schemas.microsoft.com/office/drawing/2014/main" id="{67C07E64-5BDB-422E-A7A1-649F4D29F56A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964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6-title">
            <a:extLst>
              <a:ext uri="{FF2B5EF4-FFF2-40B4-BE49-F238E27FC236}">
                <a16:creationId xmlns:a16="http://schemas.microsoft.com/office/drawing/2014/main" id="{17D26D1B-0D0D-4019-A5DE-5BEF803D888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5. 总结与分工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7AC0FE2-26C0-41DB-A1C2-D87F609E210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714500" cy="76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" name="s6-left">
            <a:extLst>
              <a:ext uri="{FF2B5EF4-FFF2-40B4-BE49-F238E27FC236}">
                <a16:creationId xmlns:a16="http://schemas.microsoft.com/office/drawing/2014/main" id="{480F56D5-E18B-426C-B4C8-5041413944C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1FA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s6-left-heading">
            <a:extLst>
              <a:ext uri="{FF2B5EF4-FFF2-40B4-BE49-F238E27FC236}">
                <a16:creationId xmlns:a16="http://schemas.microsoft.com/office/drawing/2014/main" id="{642D3DCF-2124-4A80-BB33-3C3CE7EA8EC1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65F46"/>
                </a:solidFill>
              </a:defRPr>
            </a:pPr>
            <a:r>
              <a:rPr sz="2100" b="1">
                <a:solidFill>
                  <a:srgbClr val="065F46"/>
                </a:solidFill>
              </a:rPr>
              <a:t>当前完成结果</a:t>
            </a:r>
          </a:p>
        </p:txBody>
      </p:sp>
      <p:sp>
        <p:nvSpPr>
          <p:cNvPr id="5" name="s6-left-bullet-1">
            <a:extLst>
              <a:ext uri="{FF2B5EF4-FFF2-40B4-BE49-F238E27FC236}">
                <a16:creationId xmlns:a16="http://schemas.microsoft.com/office/drawing/2014/main" id="{562B47D5-7394-4BE6-8E71-DB5B1C4EC0E7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主流程已打通，可在 Visual Studio 中编译运行</a:t>
            </a:r>
          </a:p>
        </p:txBody>
      </p:sp>
      <p:sp>
        <p:nvSpPr>
          <p:cNvPr id="6" name="s6-left-bullet-2">
            <a:extLst>
              <a:ext uri="{FF2B5EF4-FFF2-40B4-BE49-F238E27FC236}">
                <a16:creationId xmlns:a16="http://schemas.microsoft.com/office/drawing/2014/main" id="{46DB6AE0-B099-44C5-8E9C-7373B296D6CE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学生与管理员功能均可演示</a:t>
            </a:r>
          </a:p>
        </p:txBody>
      </p:sp>
      <p:sp>
        <p:nvSpPr>
          <p:cNvPr id="7" name="s6-left-bullet-3">
            <a:extLst>
              <a:ext uri="{FF2B5EF4-FFF2-40B4-BE49-F238E27FC236}">
                <a16:creationId xmlns:a16="http://schemas.microsoft.com/office/drawing/2014/main" id="{8FC85931-5BA4-4A9E-AE83-7BCEC5B89621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已完成模块整合、接口联调与基础测试</a:t>
            </a:r>
          </a:p>
        </p:txBody>
      </p:sp>
      <p:sp>
        <p:nvSpPr>
          <p:cNvPr id="8" name="s6-left-bullet-4">
            <a:extLst>
              <a:ext uri="{FF2B5EF4-FFF2-40B4-BE49-F238E27FC236}">
                <a16:creationId xmlns:a16="http://schemas.microsoft.com/office/drawing/2014/main" id="{91D54CBC-3475-4B15-8EE2-1F70F2467902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• 已准备 PPT、演示脚本与 VS 运行说明</a:t>
            </a:r>
          </a:p>
        </p:txBody>
      </p:sp>
      <p:sp>
        <p:nvSpPr>
          <p:cNvPr id="9" name="s6-right">
            <a:extLst>
              <a:ext uri="{FF2B5EF4-FFF2-40B4-BE49-F238E27FC236}">
                <a16:creationId xmlns:a16="http://schemas.microsoft.com/office/drawing/2014/main" id="{92EF1FFF-688B-40C3-9ADB-2370249BBCEC}"/>
              </a:ext>
            </a:extLst>
          </p:cNvPr>
          <p:cNvSpPr>
            <a:spLocks noGrp="1"/>
          </p:cNvSpPr>
          <p:nvPr/>
        </p:nvSpPr>
        <p:spPr>
          <a:xfrm>
            <a:off x="6057900" y="1524000"/>
            <a:ext cx="5448300" cy="400050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s6-right-heading">
            <a:extLst>
              <a:ext uri="{FF2B5EF4-FFF2-40B4-BE49-F238E27FC236}">
                <a16:creationId xmlns:a16="http://schemas.microsoft.com/office/drawing/2014/main" id="{45006EE5-5121-429B-8229-2FE656155AC5}"/>
              </a:ext>
            </a:extLst>
          </p:cNvPr>
          <p:cNvSpPr>
            <a:spLocks noGrp="1"/>
          </p:cNvSpPr>
          <p:nvPr/>
        </p:nvSpPr>
        <p:spPr>
          <a:xfrm>
            <a:off x="636270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小组分工</a:t>
            </a:r>
          </a:p>
        </p:txBody>
      </p:sp>
      <p:sp>
        <p:nvSpPr>
          <p:cNvPr id="11" name="s6-right-bullet-1">
            <a:extLst>
              <a:ext uri="{FF2B5EF4-FFF2-40B4-BE49-F238E27FC236}">
                <a16:creationId xmlns:a16="http://schemas.microsoft.com/office/drawing/2014/main" id="{A12830E0-3F97-47DA-8431-9D62701526D2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rPr sz="1500" dirty="0">
                <a:solidFill>
                  <a:srgbClr val="E2E8F0"/>
                </a:solidFill>
              </a:rPr>
              <a:t>• </a:t>
            </a:r>
            <a:r>
              <a:rPr sz="1500" dirty="0" err="1">
                <a:solidFill>
                  <a:srgbClr val="E2E8F0"/>
                </a:solidFill>
              </a:rPr>
              <a:t>成员</a:t>
            </a:r>
            <a:r>
              <a:rPr sz="1500" dirty="0">
                <a:solidFill>
                  <a:srgbClr val="E2E8F0"/>
                </a:solidFill>
              </a:rPr>
              <a:t> </a:t>
            </a:r>
            <a:r>
              <a:rPr lang="zh-CN" altLang="en-US" sz="1500" dirty="0">
                <a:solidFill>
                  <a:srgbClr val="E2E8F0"/>
                </a:solidFill>
              </a:rPr>
              <a:t>张馨怡</a:t>
            </a:r>
            <a:r>
              <a:rPr sz="1500" dirty="0">
                <a:solidFill>
                  <a:srgbClr val="E2E8F0"/>
                </a:solidFill>
              </a:rPr>
              <a:t>：</a:t>
            </a:r>
            <a:r>
              <a:rPr sz="1500" dirty="0" err="1">
                <a:solidFill>
                  <a:srgbClr val="E2E8F0"/>
                </a:solidFill>
              </a:rPr>
              <a:t>主框架、SystemManager、整合联调</a:t>
            </a:r>
            <a:endParaRPr sz="1500" dirty="0">
              <a:solidFill>
                <a:srgbClr val="E2E8F0"/>
              </a:solidFill>
            </a:endParaRPr>
          </a:p>
        </p:txBody>
      </p:sp>
      <p:sp>
        <p:nvSpPr>
          <p:cNvPr id="12" name="s6-right-bullet-2">
            <a:extLst>
              <a:ext uri="{FF2B5EF4-FFF2-40B4-BE49-F238E27FC236}">
                <a16:creationId xmlns:a16="http://schemas.microsoft.com/office/drawing/2014/main" id="{3D9AF154-4935-4C66-9B47-279ED975008B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rPr sz="1500" dirty="0">
                <a:solidFill>
                  <a:srgbClr val="E2E8F0"/>
                </a:solidFill>
              </a:rPr>
              <a:t>• </a:t>
            </a:r>
            <a:r>
              <a:rPr sz="1500" dirty="0" err="1">
                <a:solidFill>
                  <a:srgbClr val="E2E8F0"/>
                </a:solidFill>
              </a:rPr>
              <a:t>成员</a:t>
            </a:r>
            <a:r>
              <a:rPr sz="1500" dirty="0">
                <a:solidFill>
                  <a:srgbClr val="E2E8F0"/>
                </a:solidFill>
              </a:rPr>
              <a:t> ：User / Student / Admin </a:t>
            </a:r>
            <a:r>
              <a:rPr sz="1500" dirty="0" err="1">
                <a:solidFill>
                  <a:srgbClr val="E2E8F0"/>
                </a:solidFill>
              </a:rPr>
              <a:t>用户模块</a:t>
            </a:r>
            <a:endParaRPr sz="1500" dirty="0">
              <a:solidFill>
                <a:srgbClr val="E2E8F0"/>
              </a:solidFill>
            </a:endParaRPr>
          </a:p>
        </p:txBody>
      </p:sp>
      <p:sp>
        <p:nvSpPr>
          <p:cNvPr id="13" name="s6-right-bullet-3">
            <a:extLst>
              <a:ext uri="{FF2B5EF4-FFF2-40B4-BE49-F238E27FC236}">
                <a16:creationId xmlns:a16="http://schemas.microsoft.com/office/drawing/2014/main" id="{4CA7D150-3781-4E1E-BCBC-69D4041965C8}"/>
              </a:ext>
            </a:extLst>
          </p:cNvPr>
          <p:cNvSpPr>
            <a:spLocks noGrp="1"/>
          </p:cNvSpPr>
          <p:nvPr/>
        </p:nvSpPr>
        <p:spPr>
          <a:xfrm>
            <a:off x="6362700" y="31813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rPr sz="1500">
                <a:solidFill>
                  <a:srgbClr val="E2E8F0"/>
                </a:solidFill>
              </a:rPr>
              <a:t>• 成员 C：Seat / StudyRoom 自习室与座位模块</a:t>
            </a:r>
          </a:p>
        </p:txBody>
      </p:sp>
      <p:sp>
        <p:nvSpPr>
          <p:cNvPr id="14" name="s6-right-bullet-4">
            <a:extLst>
              <a:ext uri="{FF2B5EF4-FFF2-40B4-BE49-F238E27FC236}">
                <a16:creationId xmlns:a16="http://schemas.microsoft.com/office/drawing/2014/main" id="{240C75BE-8FA4-45AF-A770-30F5225CAF47}"/>
              </a:ext>
            </a:extLst>
          </p:cNvPr>
          <p:cNvSpPr>
            <a:spLocks noGrp="1"/>
          </p:cNvSpPr>
          <p:nvPr/>
        </p:nvSpPr>
        <p:spPr>
          <a:xfrm>
            <a:off x="6362700" y="36004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rPr sz="1500">
                <a:solidFill>
                  <a:srgbClr val="E2E8F0"/>
                </a:solidFill>
              </a:rPr>
              <a:t>• 成员 D：Reservation、统计与文件读写模块</a:t>
            </a:r>
          </a:p>
        </p:txBody>
      </p:sp>
      <p:sp>
        <p:nvSpPr>
          <p:cNvPr id="15" name="s6-right-bullet-5">
            <a:extLst>
              <a:ext uri="{FF2B5EF4-FFF2-40B4-BE49-F238E27FC236}">
                <a16:creationId xmlns:a16="http://schemas.microsoft.com/office/drawing/2014/main" id="{11452F24-69BD-4796-8095-296253E9E19A}"/>
              </a:ext>
            </a:extLst>
          </p:cNvPr>
          <p:cNvSpPr>
            <a:spLocks noGrp="1"/>
          </p:cNvSpPr>
          <p:nvPr/>
        </p:nvSpPr>
        <p:spPr>
          <a:xfrm>
            <a:off x="6362700" y="40195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rPr sz="1500">
                <a:solidFill>
                  <a:srgbClr val="E2E8F0"/>
                </a:solidFill>
              </a:rPr>
              <a:t>• 最终由组长统一整合并完成展示版本</a:t>
            </a:r>
          </a:p>
        </p:txBody>
      </p:sp>
      <p:sp>
        <p:nvSpPr>
          <p:cNvPr id="16" name="s6-bottom">
            <a:extLst>
              <a:ext uri="{FF2B5EF4-FFF2-40B4-BE49-F238E27FC236}">
                <a16:creationId xmlns:a16="http://schemas.microsoft.com/office/drawing/2014/main" id="{0B1B1C80-D421-4DC9-93AC-2E15C00984C0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可扩展方向：图形界面、更多时间段管理、异常输入处理、数据库版本。</a:t>
            </a:r>
          </a:p>
        </p:txBody>
      </p:sp>
      <p:sp>
        <p:nvSpPr>
          <p:cNvPr id="17" name="footer-left-6">
            <a:extLst>
              <a:ext uri="{FF2B5EF4-FFF2-40B4-BE49-F238E27FC236}">
                <a16:creationId xmlns:a16="http://schemas.microsoft.com/office/drawing/2014/main" id="{D8BB88BB-5581-4D76-B741-3FFC3615214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校园自习室预约管理系统 | C++17 控制台课程项目 | Pre 展示</a:t>
            </a:r>
          </a:p>
        </p:txBody>
      </p:sp>
      <p:sp>
        <p:nvSpPr>
          <p:cNvPr id="18" name="footer-right-6">
            <a:extLst>
              <a:ext uri="{FF2B5EF4-FFF2-40B4-BE49-F238E27FC236}">
                <a16:creationId xmlns:a16="http://schemas.microsoft.com/office/drawing/2014/main" id="{2DD16A4E-D351-4EC6-A636-1F8B2CB8A9F8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838375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DocSecurity>0</DocSecurity>
  <PresentationFormat>宽屏</PresentationFormat>
  <Paragraphs>98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genius200612zhxy@qq.com</cp:lastModifiedBy>
  <cp:revision>2</cp:revision>
  <dcterms:created xsi:type="dcterms:W3CDTF">2026-06-28T11:49:59Z</dcterms:created>
  <dcterms:modified xsi:type="dcterms:W3CDTF">2026-06-28T14:32:51Z</dcterms:modified>
</cp:coreProperties>
</file>